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Arial Black" panose="020B0A04020102020204" pitchFamily="3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g0X2xhqikmrInTmmbm2H2x61Mj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-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8edad852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c8edad852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азва та вміст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ий слайд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азва розділу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’єкти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рівняння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Лише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и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міст і підпис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і підпис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і вертикальни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ий заголовок і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1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.png"/><Relationship Id="rId4" Type="http://schemas.openxmlformats.org/officeDocument/2006/relationships/image" Target="../media/image18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hdnrm.knu.ua" TargetMode="External"/><Relationship Id="rId5" Type="http://schemas.openxmlformats.org/officeDocument/2006/relationships/image" Target="../media/image29.jp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691750" y="2381850"/>
            <a:ext cx="10544100" cy="3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Black"/>
              <a:buNone/>
            </a:pPr>
            <a:r>
              <a:rPr lang="uk-UA" sz="3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Центр колективного користування науковим обладнанням</a:t>
            </a:r>
            <a:endParaRPr sz="3600" b="0" i="0" u="none" strike="noStrike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</a:pPr>
            <a:r>
              <a:rPr lang="uk-UA" sz="3600" b="0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«Фізико-хімічні дослідження нових речовин і матеріалів»</a:t>
            </a:r>
            <a:endParaRPr sz="3600" b="0" i="0" u="none" strike="noStrike" cap="none">
              <a:solidFill>
                <a:schemeClr val="accent6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2192000" cy="18540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8000" y="5"/>
            <a:ext cx="1853995" cy="185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312"/>
            <a:ext cx="1854000" cy="1829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2450" y="0"/>
            <a:ext cx="2182707" cy="185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12192000" cy="10467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0" y="104670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Хімічний факультет має 5 науково-дослідних лабораторій, на факультеті успішно виконуються наукова робота в рамках </a:t>
            </a:r>
            <a:r>
              <a:rPr lang="uk-UA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 проєктів.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962525" y="-2298"/>
            <a:ext cx="86232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Хімічний факультет: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кадровий та науковий потенціал</a:t>
            </a:r>
            <a:endParaRPr sz="2400" b="0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(на 2025 рік) </a:t>
            </a:r>
            <a:endParaRPr sz="2700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97" name="Google Shape;97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5300" y="0"/>
            <a:ext cx="1046700" cy="104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305"/>
            <a:ext cx="1046700" cy="103279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0" y="1972156"/>
            <a:ext cx="5770813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МОН: 15</a:t>
            </a:r>
            <a:r>
              <a:rPr lang="uk-UA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uk-UA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проєктів</a:t>
            </a:r>
            <a:r>
              <a:rPr lang="uk-UA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наукових досліджень, з них </a:t>
            </a:r>
            <a:r>
              <a:rPr lang="uk-UA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молодіжних</a:t>
            </a:r>
            <a:r>
              <a:rPr lang="uk-UA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uk-UA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проєкта</a:t>
            </a:r>
            <a:endParaRPr sz="2000" dirty="0"/>
          </a:p>
        </p:txBody>
      </p:sp>
      <p:sp>
        <p:nvSpPr>
          <p:cNvPr id="104" name="Google Shape;104;p2"/>
          <p:cNvSpPr txBox="1"/>
          <p:nvPr/>
        </p:nvSpPr>
        <p:spPr>
          <a:xfrm>
            <a:off x="195147" y="2989524"/>
            <a:ext cx="527683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НФДУ: 2 проєкти</a:t>
            </a:r>
            <a:endParaRPr sz="2000" b="1" dirty="0"/>
          </a:p>
        </p:txBody>
      </p:sp>
      <p:sp>
        <p:nvSpPr>
          <p:cNvPr id="106" name="Google Shape;106;p2"/>
          <p:cNvSpPr txBox="1"/>
          <p:nvPr/>
        </p:nvSpPr>
        <p:spPr>
          <a:xfrm>
            <a:off x="195147" y="3699115"/>
            <a:ext cx="4739714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algn="just"/>
            <a:r>
              <a:rPr lang="en-US" sz="20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Eurizon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uk-UA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проєкти</a:t>
            </a:r>
            <a:endParaRPr sz="2000" b="1" dirty="0"/>
          </a:p>
        </p:txBody>
      </p:sp>
      <p:sp>
        <p:nvSpPr>
          <p:cNvPr id="107" name="Google Shape;107;p2"/>
          <p:cNvSpPr txBox="1">
            <a:spLocks noGrp="1"/>
          </p:cNvSpPr>
          <p:nvPr>
            <p:ph type="sldNum" idx="12"/>
          </p:nvPr>
        </p:nvSpPr>
        <p:spPr>
          <a:xfrm>
            <a:off x="9448800" y="6463525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 sz="2400">
                <a:solidFill>
                  <a:srgbClr val="38761D"/>
                </a:solidFill>
              </a:rPr>
              <a:t>2</a:t>
            </a:fld>
            <a:endParaRPr sz="2400">
              <a:solidFill>
                <a:srgbClr val="38761D"/>
              </a:solidFill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7257141" y="3771387"/>
            <a:ext cx="3534600" cy="1183800"/>
          </a:xfrm>
          <a:prstGeom prst="roundRect">
            <a:avLst>
              <a:gd name="adj" fmla="val 8171"/>
            </a:avLst>
          </a:prstGeom>
          <a:noFill/>
          <a:ln w="2857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-UA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НДЧ хімічного факультету: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uk-UA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 співробітник</a:t>
            </a:r>
            <a:r>
              <a:rPr lang="uk-UA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за основним місцем роботи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uk-UA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серед них </a:t>
            </a:r>
            <a:r>
              <a:rPr lang="uk-UA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молодих вчених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823601" y="4692000"/>
            <a:ext cx="3701400" cy="1662300"/>
          </a:xfrm>
          <a:prstGeom prst="roundRect">
            <a:avLst>
              <a:gd name="adj" fmla="val 8171"/>
            </a:avLst>
          </a:prstGeom>
          <a:noFill/>
          <a:ln w="2857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Також виконуються 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uk-UA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міжнародний проєкт, що фінансується за рахунок Європейського Виконавчого </a:t>
            </a:r>
            <a:r>
              <a:rPr lang="uk-UA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Агенства</a:t>
            </a:r>
            <a:r>
              <a:rPr lang="uk-UA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з наукових досліджень;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-"/>
            </a:pPr>
            <a:r>
              <a:rPr lang="uk-UA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договірних </a:t>
            </a:r>
            <a:r>
              <a:rPr lang="uk-UA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проєкта</a:t>
            </a:r>
            <a:r>
              <a:rPr lang="uk-UA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7257141" y="2089712"/>
            <a:ext cx="2309100" cy="1278600"/>
          </a:xfrm>
          <a:prstGeom prst="roundRect">
            <a:avLst>
              <a:gd name="adj" fmla="val 8171"/>
            </a:avLst>
          </a:prstGeom>
          <a:noFill/>
          <a:ln w="2857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 науково- педагогічних працівників</a:t>
            </a:r>
            <a:r>
              <a:rPr lang="uk-UA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усі кандидати та доктори хімічних наук.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7257141" y="5420512"/>
            <a:ext cx="2743200" cy="646500"/>
          </a:xfrm>
          <a:prstGeom prst="roundRect">
            <a:avLst>
              <a:gd name="adj" fmla="val 8171"/>
            </a:avLst>
          </a:prstGeom>
          <a:noFill/>
          <a:ln w="2857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r>
              <a:rPr lang="uk-UA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аспіранти та</a:t>
            </a:r>
            <a:r>
              <a:rPr lang="uk-UA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</a:t>
            </a:r>
            <a:r>
              <a:rPr lang="uk-UA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докторанти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0" y="0"/>
            <a:ext cx="12192000" cy="10467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5300" y="0"/>
            <a:ext cx="1046700" cy="104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305"/>
            <a:ext cx="1046700" cy="103279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3717459" y="292517"/>
            <a:ext cx="516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Перелік обладнання ЦКК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>
            <a:spLocks noGrp="1"/>
          </p:cNvSpPr>
          <p:nvPr>
            <p:ph type="sldNum" idx="12"/>
          </p:nvPr>
        </p:nvSpPr>
        <p:spPr>
          <a:xfrm>
            <a:off x="9448800" y="649290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 sz="2400">
                <a:solidFill>
                  <a:srgbClr val="38761D"/>
                </a:solidFill>
              </a:rPr>
              <a:t>3</a:t>
            </a:fld>
            <a:endParaRPr sz="2400">
              <a:solidFill>
                <a:srgbClr val="38761D"/>
              </a:solidFill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00" y="1075275"/>
            <a:ext cx="6101584" cy="3780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850" y="4817525"/>
            <a:ext cx="6101575" cy="118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77775" y="1122900"/>
            <a:ext cx="5972251" cy="25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84125" y="3608700"/>
            <a:ext cx="5972249" cy="197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0" y="0"/>
            <a:ext cx="12192000" cy="6444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7800" y="0"/>
            <a:ext cx="914200" cy="9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942" y="-10816"/>
            <a:ext cx="914190" cy="90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3289113" y="120193"/>
            <a:ext cx="648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Спектроскопічні дослідження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" name="Google Shape;134;p4"/>
          <p:cNvGrpSpPr/>
          <p:nvPr/>
        </p:nvGrpSpPr>
        <p:grpSpPr>
          <a:xfrm>
            <a:off x="10837" y="908995"/>
            <a:ext cx="4409476" cy="5673095"/>
            <a:chOff x="130013" y="908995"/>
            <a:chExt cx="4409476" cy="5673095"/>
          </a:xfrm>
        </p:grpSpPr>
        <p:pic>
          <p:nvPicPr>
            <p:cNvPr id="135" name="Google Shape;135;p4"/>
            <p:cNvPicPr preferRelativeResize="0"/>
            <p:nvPr/>
          </p:nvPicPr>
          <p:blipFill rotWithShape="1">
            <a:blip r:embed="rId5">
              <a:alphaModFix/>
            </a:blip>
            <a:srcRect l="21321" t="6871" r="2202" b="16868"/>
            <a:stretch/>
          </p:blipFill>
          <p:spPr>
            <a:xfrm>
              <a:off x="335850" y="908995"/>
              <a:ext cx="4019473" cy="2254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44438" y="3874309"/>
              <a:ext cx="4008136" cy="2254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" name="Google Shape;137;p4"/>
            <p:cNvSpPr txBox="1"/>
            <p:nvPr/>
          </p:nvSpPr>
          <p:spPr>
            <a:xfrm>
              <a:off x="130013" y="3076879"/>
              <a:ext cx="43878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-UA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Спектрометр УФ-видимого діапазону Varian Cary 50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4"/>
            <p:cNvSpPr txBox="1"/>
            <p:nvPr/>
          </p:nvSpPr>
          <p:spPr>
            <a:xfrm>
              <a:off x="151688" y="6089490"/>
              <a:ext cx="4387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-UA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ІЧ-спектрометр Nicolet Nexus 470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4"/>
          <p:cNvGrpSpPr/>
          <p:nvPr/>
        </p:nvGrpSpPr>
        <p:grpSpPr>
          <a:xfrm>
            <a:off x="4376040" y="909007"/>
            <a:ext cx="4416319" cy="5983334"/>
            <a:chOff x="7539594" y="909007"/>
            <a:chExt cx="4416319" cy="5983334"/>
          </a:xfrm>
        </p:grpSpPr>
        <p:pic>
          <p:nvPicPr>
            <p:cNvPr id="140" name="Google Shape;140;p4"/>
            <p:cNvPicPr preferRelativeResize="0"/>
            <p:nvPr/>
          </p:nvPicPr>
          <p:blipFill rotWithShape="1">
            <a:blip r:embed="rId7">
              <a:alphaModFix/>
            </a:blip>
            <a:srcRect t="21029"/>
            <a:stretch/>
          </p:blipFill>
          <p:spPr>
            <a:xfrm>
              <a:off x="7680452" y="909007"/>
              <a:ext cx="4156300" cy="22545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4"/>
            <p:cNvPicPr preferRelativeResize="0"/>
            <p:nvPr/>
          </p:nvPicPr>
          <p:blipFill rotWithShape="1">
            <a:blip r:embed="rId8">
              <a:alphaModFix/>
            </a:blip>
            <a:srcRect t="5803" r="9510" b="6929"/>
            <a:stretch/>
          </p:blipFill>
          <p:spPr>
            <a:xfrm>
              <a:off x="7680454" y="3867500"/>
              <a:ext cx="4156299" cy="2254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4"/>
            <p:cNvSpPr txBox="1"/>
            <p:nvPr/>
          </p:nvSpPr>
          <p:spPr>
            <a:xfrm>
              <a:off x="7568113" y="3128522"/>
              <a:ext cx="4387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-UA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Спектрофотометр Shimadzu UV-2600i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7539594" y="6091941"/>
              <a:ext cx="43878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-UA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Флуоресцентний спектрометр Shimadzu RF-6000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4"/>
          <p:cNvSpPr/>
          <p:nvPr/>
        </p:nvSpPr>
        <p:spPr>
          <a:xfrm>
            <a:off x="8814058" y="1589577"/>
            <a:ext cx="3087600" cy="3775003"/>
          </a:xfrm>
          <a:prstGeom prst="roundRect">
            <a:avLst>
              <a:gd name="adj" fmla="val 8171"/>
            </a:avLst>
          </a:prstGeom>
          <a:noFill/>
          <a:ln w="2857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uk-UA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Спектроскопічні прилади забезпечують дослідження електронної та коливальної структури речовин та матеріалів, їхніх оптичних </a:t>
            </a:r>
            <a:r>
              <a:rPr lang="uk-UA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властивостейдля</a:t>
            </a:r>
            <a:r>
              <a:rPr lang="uk-UA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якісного й кількісного аналізу </a:t>
            </a:r>
            <a:r>
              <a:rPr lang="uk-UA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сполук</a:t>
            </a:r>
            <a:r>
              <a:rPr lang="uk-UA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вивчення кінетики процесів 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>
            <a:spLocks noGrp="1"/>
          </p:cNvSpPr>
          <p:nvPr>
            <p:ph type="sldNum" idx="12"/>
          </p:nvPr>
        </p:nvSpPr>
        <p:spPr>
          <a:xfrm>
            <a:off x="9448800" y="649290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 sz="2400">
                <a:solidFill>
                  <a:srgbClr val="38761D"/>
                </a:solidFill>
              </a:rPr>
              <a:t>4</a:t>
            </a:fld>
            <a:endParaRPr sz="24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/>
          <p:nvPr/>
        </p:nvSpPr>
        <p:spPr>
          <a:xfrm>
            <a:off x="0" y="0"/>
            <a:ext cx="12192000" cy="6444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7800" y="0"/>
            <a:ext cx="914200" cy="9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5"/>
          <p:cNvPicPr preferRelativeResize="0"/>
          <p:nvPr/>
        </p:nvPicPr>
        <p:blipFill rotWithShape="1">
          <a:blip r:embed="rId4">
            <a:alphaModFix/>
          </a:blip>
          <a:srcRect l="8722" r="2451" b="2685"/>
          <a:stretch/>
        </p:blipFill>
        <p:spPr>
          <a:xfrm>
            <a:off x="411700" y="764296"/>
            <a:ext cx="4069577" cy="250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5"/>
          <p:cNvPicPr preferRelativeResize="0"/>
          <p:nvPr/>
        </p:nvPicPr>
        <p:blipFill rotWithShape="1">
          <a:blip r:embed="rId5">
            <a:alphaModFix/>
          </a:blip>
          <a:srcRect l="11164" t="6681" r="4383"/>
          <a:stretch/>
        </p:blipFill>
        <p:spPr>
          <a:xfrm>
            <a:off x="411700" y="3689988"/>
            <a:ext cx="4069577" cy="252929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 txBox="1"/>
          <p:nvPr/>
        </p:nvSpPr>
        <p:spPr>
          <a:xfrm>
            <a:off x="3152635" y="98525"/>
            <a:ext cx="6482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Хроматографічне обладнання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5"/>
          <p:cNvPicPr preferRelativeResize="0"/>
          <p:nvPr/>
        </p:nvPicPr>
        <p:blipFill rotWithShape="1">
          <a:blip r:embed="rId6">
            <a:alphaModFix/>
          </a:blip>
          <a:srcRect l="2685" t="3512" b="1566"/>
          <a:stretch/>
        </p:blipFill>
        <p:spPr>
          <a:xfrm>
            <a:off x="5030150" y="747242"/>
            <a:ext cx="6304003" cy="345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/>
          <p:nvPr/>
        </p:nvSpPr>
        <p:spPr>
          <a:xfrm>
            <a:off x="4929625" y="4831700"/>
            <a:ext cx="6759000" cy="1933500"/>
          </a:xfrm>
          <a:prstGeom prst="roundRect">
            <a:avLst>
              <a:gd name="adj" fmla="val 8171"/>
            </a:avLst>
          </a:prstGeom>
          <a:noFill/>
          <a:ln w="2857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Хроматографічні системи призначені для розділення, ідентифікації та кількісного визначення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uk-UA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вмісту компонентів складних сумішей. Використовуються у фармацевтичних, екологічних, біохімічних і матеріалознавчих дослідженнях.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>
            <a:spLocks noGrp="1"/>
          </p:cNvSpPr>
          <p:nvPr>
            <p:ph type="sldNum" idx="12"/>
          </p:nvPr>
        </p:nvSpPr>
        <p:spPr>
          <a:xfrm>
            <a:off x="9448800" y="645380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 sz="2400">
                <a:solidFill>
                  <a:srgbClr val="38761D"/>
                </a:solidFill>
              </a:rPr>
              <a:t>5</a:t>
            </a:fld>
            <a:endParaRPr sz="2400">
              <a:solidFill>
                <a:srgbClr val="38761D"/>
              </a:solidFill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10823" y="3224689"/>
            <a:ext cx="4918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Газовий хроматограф Agilent 6890N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6942" y="-10816"/>
            <a:ext cx="914190" cy="90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/>
          <p:cNvSpPr txBox="1"/>
          <p:nvPr/>
        </p:nvSpPr>
        <p:spPr>
          <a:xfrm>
            <a:off x="10828" y="6157901"/>
            <a:ext cx="4918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Газовий хроматограф Varian 3900 з мас-спектрометром Varian Saturn 2100T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5030149" y="4205942"/>
            <a:ext cx="6303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Хроматограф рідинний Waters  Alliance  е2695XC/2489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8edad852b_1_0"/>
          <p:cNvSpPr/>
          <p:nvPr/>
        </p:nvSpPr>
        <p:spPr>
          <a:xfrm>
            <a:off x="0" y="0"/>
            <a:ext cx="12192000" cy="6444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g3c8edad852b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7800" y="0"/>
            <a:ext cx="914200" cy="9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c8edad852b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942" y="-10816"/>
            <a:ext cx="914190" cy="90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c8edad852b_1_0"/>
          <p:cNvSpPr txBox="1"/>
          <p:nvPr/>
        </p:nvSpPr>
        <p:spPr>
          <a:xfrm>
            <a:off x="3674550" y="98525"/>
            <a:ext cx="484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Дифракційні дослідження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g3c8edad852b_1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1575" y="1393025"/>
            <a:ext cx="3402325" cy="512955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c8edad852b_1_0"/>
          <p:cNvSpPr txBox="1">
            <a:spLocks noGrp="1"/>
          </p:cNvSpPr>
          <p:nvPr>
            <p:ph type="sldNum" idx="12"/>
          </p:nvPr>
        </p:nvSpPr>
        <p:spPr>
          <a:xfrm>
            <a:off x="9448800" y="649290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 sz="2400">
                <a:solidFill>
                  <a:srgbClr val="38761D"/>
                </a:solidFill>
              </a:rPr>
              <a:t>6</a:t>
            </a:fld>
            <a:endParaRPr sz="2400">
              <a:solidFill>
                <a:srgbClr val="38761D"/>
              </a:solidFill>
            </a:endParaRPr>
          </a:p>
        </p:txBody>
      </p:sp>
      <p:sp>
        <p:nvSpPr>
          <p:cNvPr id="173" name="Google Shape;173;g3c8edad852b_1_0"/>
          <p:cNvSpPr/>
          <p:nvPr/>
        </p:nvSpPr>
        <p:spPr>
          <a:xfrm>
            <a:off x="3749900" y="883225"/>
            <a:ext cx="4692900" cy="5686500"/>
          </a:xfrm>
          <a:prstGeom prst="roundRect">
            <a:avLst>
              <a:gd name="adj" fmla="val 8171"/>
            </a:avLst>
          </a:prstGeom>
          <a:noFill/>
          <a:ln w="2857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Для визначення кристалічної структури, фазового складу та ступеня кристалічності матеріалів у порошкоподібному стані за допомогою рентгенівської дифракції.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c8edad852b_1_0"/>
          <p:cNvSpPr txBox="1"/>
          <p:nvPr/>
        </p:nvSpPr>
        <p:spPr>
          <a:xfrm>
            <a:off x="596253" y="560225"/>
            <a:ext cx="30000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6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uk-UA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Рентгенівський </a:t>
            </a:r>
            <a:r>
              <a:rPr lang="uk-UA" sz="17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дифрактометр</a:t>
            </a:r>
            <a:r>
              <a:rPr lang="uk-UA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uk-UA" sz="17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Shimadzu</a:t>
            </a:r>
            <a:r>
              <a:rPr lang="uk-UA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XRD-6000</a:t>
            </a:r>
            <a:endParaRPr sz="17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g3c8edad852b_1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51972" y="3066072"/>
            <a:ext cx="3869849" cy="3199349"/>
          </a:xfrm>
          <a:prstGeom prst="rect">
            <a:avLst/>
          </a:prstGeom>
          <a:noFill/>
          <a:ln w="2857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6" name="Google Shape;176;g3c8edad852b_1_0" title="photo_5238160415517251845_y.jp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88800" y="1520873"/>
            <a:ext cx="3470501" cy="462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c8edad852b_1_0"/>
          <p:cNvSpPr txBox="1"/>
          <p:nvPr/>
        </p:nvSpPr>
        <p:spPr>
          <a:xfrm>
            <a:off x="8990425" y="720836"/>
            <a:ext cx="30000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6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uk-UA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Рентгенівський </a:t>
            </a:r>
            <a:r>
              <a:rPr lang="uk-UA" sz="17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дифрактометр</a:t>
            </a:r>
            <a:r>
              <a:rPr lang="uk-UA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ДРОН - 3</a:t>
            </a:r>
            <a:endParaRPr sz="17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/>
          <p:nvPr/>
        </p:nvSpPr>
        <p:spPr>
          <a:xfrm>
            <a:off x="0" y="0"/>
            <a:ext cx="12192000" cy="6444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7800" y="0"/>
            <a:ext cx="914200" cy="9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7"/>
          <p:cNvPicPr preferRelativeResize="0"/>
          <p:nvPr/>
        </p:nvPicPr>
        <p:blipFill rotWithShape="1">
          <a:blip r:embed="rId4">
            <a:alphaModFix/>
          </a:blip>
          <a:srcRect t="2575" b="1675"/>
          <a:stretch/>
        </p:blipFill>
        <p:spPr>
          <a:xfrm>
            <a:off x="506675" y="653457"/>
            <a:ext cx="3198600" cy="544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6942" y="-10816"/>
            <a:ext cx="914190" cy="90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 txBox="1"/>
          <p:nvPr/>
        </p:nvSpPr>
        <p:spPr>
          <a:xfrm>
            <a:off x="4435525" y="112173"/>
            <a:ext cx="38896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ЯМР спектроскопія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153350" y="850725"/>
            <a:ext cx="7612500" cy="5686500"/>
          </a:xfrm>
          <a:prstGeom prst="roundRect">
            <a:avLst>
              <a:gd name="adj" fmla="val 8171"/>
            </a:avLst>
          </a:prstGeom>
          <a:noFill/>
          <a:ln w="2857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Для дослідження </a:t>
            </a:r>
            <a:r>
              <a:rPr lang="uk-UA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внутрішньомолекулярної</a:t>
            </a:r>
            <a:r>
              <a:rPr lang="uk-UA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будови органічних молекул, полімерів та комплексних </a:t>
            </a:r>
            <a:r>
              <a:rPr lang="uk-UA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сполук</a:t>
            </a:r>
            <a:r>
              <a:rPr lang="uk-UA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у розчинах.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Вимірювання на ядрах </a:t>
            </a:r>
            <a:r>
              <a:rPr lang="uk-UA" sz="20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uk-UA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H, </a:t>
            </a:r>
            <a:r>
              <a:rPr lang="uk-UA" sz="20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uk-UA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 </a:t>
            </a:r>
            <a:r>
              <a:rPr lang="uk-UA" sz="20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r>
              <a:rPr lang="uk-UA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F, </a:t>
            </a:r>
            <a:r>
              <a:rPr lang="uk-UA" sz="20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r>
              <a:rPr lang="uk-UA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Одновимірні та двовимірні кореляційні методи ЯМР для доказу будови нових </a:t>
            </a:r>
            <a:r>
              <a:rPr lang="uk-UA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сполук</a:t>
            </a:r>
            <a:r>
              <a:rPr lang="uk-UA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 txBox="1">
            <a:spLocks noGrp="1"/>
          </p:cNvSpPr>
          <p:nvPr>
            <p:ph type="sldNum" idx="12"/>
          </p:nvPr>
        </p:nvSpPr>
        <p:spPr>
          <a:xfrm>
            <a:off x="9448800" y="649290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 sz="2400">
                <a:solidFill>
                  <a:srgbClr val="38761D"/>
                </a:solidFill>
              </a:rPr>
              <a:t>7</a:t>
            </a:fld>
            <a:endParaRPr sz="2400">
              <a:solidFill>
                <a:srgbClr val="38761D"/>
              </a:solidFill>
            </a:endParaRPr>
          </a:p>
        </p:txBody>
      </p:sp>
      <p:pic>
        <p:nvPicPr>
          <p:cNvPr id="189" name="Google Shape;189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84125" y="2708050"/>
            <a:ext cx="5238750" cy="3733800"/>
          </a:xfrm>
          <a:prstGeom prst="rect">
            <a:avLst/>
          </a:prstGeom>
          <a:noFill/>
          <a:ln w="2857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0" name="Google Shape;190;p7"/>
          <p:cNvSpPr txBox="1"/>
          <p:nvPr/>
        </p:nvSpPr>
        <p:spPr>
          <a:xfrm>
            <a:off x="-88774" y="6094622"/>
            <a:ext cx="4374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Спектрометр ядерного магнітного </a:t>
            </a:r>
            <a:br>
              <a:rPr lang="uk-UA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-UA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резонансу Varian Mercury 400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/>
          <p:nvPr/>
        </p:nvSpPr>
        <p:spPr>
          <a:xfrm>
            <a:off x="0" y="0"/>
            <a:ext cx="12192000" cy="6444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3523398" y="98525"/>
            <a:ext cx="5145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Аналіз елементного складу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300" y="725134"/>
            <a:ext cx="4096499" cy="2304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8"/>
          <p:cNvPicPr preferRelativeResize="0"/>
          <p:nvPr/>
        </p:nvPicPr>
        <p:blipFill rotWithShape="1">
          <a:blip r:embed="rId4">
            <a:alphaModFix/>
          </a:blip>
          <a:srcRect l="11402" r="12430"/>
          <a:stretch/>
        </p:blipFill>
        <p:spPr>
          <a:xfrm>
            <a:off x="8655821" y="3830525"/>
            <a:ext cx="3336578" cy="246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8"/>
          <p:cNvPicPr preferRelativeResize="0"/>
          <p:nvPr/>
        </p:nvPicPr>
        <p:blipFill rotWithShape="1">
          <a:blip r:embed="rId5">
            <a:alphaModFix/>
          </a:blip>
          <a:srcRect r="14566"/>
          <a:stretch/>
        </p:blipFill>
        <p:spPr>
          <a:xfrm>
            <a:off x="264300" y="3829774"/>
            <a:ext cx="3635621" cy="2393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8"/>
          <p:cNvPicPr preferRelativeResize="0"/>
          <p:nvPr/>
        </p:nvPicPr>
        <p:blipFill rotWithShape="1">
          <a:blip r:embed="rId6">
            <a:alphaModFix/>
          </a:blip>
          <a:srcRect t="45692" b="13305"/>
          <a:stretch/>
        </p:blipFill>
        <p:spPr>
          <a:xfrm>
            <a:off x="8861725" y="714300"/>
            <a:ext cx="3012076" cy="2195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8"/>
          <p:cNvPicPr preferRelativeResize="0"/>
          <p:nvPr/>
        </p:nvPicPr>
        <p:blipFill rotWithShape="1">
          <a:blip r:embed="rId7">
            <a:alphaModFix/>
          </a:blip>
          <a:srcRect l="19578" t="8138" r="18677"/>
          <a:stretch/>
        </p:blipFill>
        <p:spPr>
          <a:xfrm>
            <a:off x="5261125" y="714301"/>
            <a:ext cx="2684861" cy="224697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8"/>
          <p:cNvSpPr txBox="1"/>
          <p:nvPr/>
        </p:nvSpPr>
        <p:spPr>
          <a:xfrm>
            <a:off x="10823" y="3033539"/>
            <a:ext cx="4918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Універсальний елементний аналізатор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Vario Mikro Cube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8297850" y="2860177"/>
            <a:ext cx="40965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Атомно-абсорбційний спектрометр </a:t>
            </a:r>
            <a:br>
              <a:rPr lang="uk-UA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-UA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  полуменевою атомізацією AAS-1N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(Carl Zeiss Jena)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 txBox="1">
            <a:spLocks noGrp="1"/>
          </p:cNvSpPr>
          <p:nvPr>
            <p:ph type="sldNum" idx="12"/>
          </p:nvPr>
        </p:nvSpPr>
        <p:spPr>
          <a:xfrm>
            <a:off x="9448800" y="649290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 sz="2400">
                <a:solidFill>
                  <a:srgbClr val="38761D"/>
                </a:solidFill>
              </a:rPr>
              <a:t>8</a:t>
            </a:fld>
            <a:endParaRPr sz="2400">
              <a:solidFill>
                <a:srgbClr val="38761D"/>
              </a:solidFill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94169" y="6128318"/>
            <a:ext cx="4222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Полуменевий атомно-емісійний спектрометр Jenway PFP7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4116950" y="2860933"/>
            <a:ext cx="46695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Атомно-абсорційний спектрометр </a:t>
            </a:r>
            <a:br>
              <a:rPr lang="uk-UA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-UA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 електротермічною атомізацією </a:t>
            </a:r>
            <a:br>
              <a:rPr lang="uk-UA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-UA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Shimadzu ASC-7000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8182184" y="6227246"/>
            <a:ext cx="4222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Рентген-флуоресцентний спектрометр ElvaX Pro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277800" y="0"/>
            <a:ext cx="914200" cy="9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-6942" y="-10816"/>
            <a:ext cx="914190" cy="90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"/>
          <p:cNvSpPr/>
          <p:nvPr/>
        </p:nvSpPr>
        <p:spPr>
          <a:xfrm>
            <a:off x="4116950" y="3843207"/>
            <a:ext cx="4222500" cy="2841600"/>
          </a:xfrm>
          <a:prstGeom prst="roundRect">
            <a:avLst>
              <a:gd name="adj" fmla="val 8171"/>
            </a:avLst>
          </a:prstGeom>
          <a:noFill/>
          <a:ln w="2857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Прилади для елементного аналізу дозволяють визначати якісний і кількісний склад матеріалів, включаючи вміст основних компонентів та слідових домішок. Застосовуються у хімії, екології, геології та при розробці нових матеріалів.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/>
          <p:nvPr/>
        </p:nvSpPr>
        <p:spPr>
          <a:xfrm>
            <a:off x="0" y="0"/>
            <a:ext cx="12192000" cy="9141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7800" y="0"/>
            <a:ext cx="914200" cy="9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950" y="-1942"/>
            <a:ext cx="926514" cy="91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 txBox="1"/>
          <p:nvPr/>
        </p:nvSpPr>
        <p:spPr>
          <a:xfrm>
            <a:off x="3029802" y="118998"/>
            <a:ext cx="81681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Дослідження мікро- та наноматеріалів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9"/>
          <p:cNvPicPr preferRelativeResize="0"/>
          <p:nvPr/>
        </p:nvPicPr>
        <p:blipFill rotWithShape="1">
          <a:blip r:embed="rId5">
            <a:alphaModFix/>
          </a:blip>
          <a:srcRect b="7944"/>
          <a:stretch/>
        </p:blipFill>
        <p:spPr>
          <a:xfrm>
            <a:off x="9043425" y="912250"/>
            <a:ext cx="3148574" cy="5152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912250"/>
            <a:ext cx="6183376" cy="347817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9"/>
          <p:cNvSpPr txBox="1">
            <a:spLocks noGrp="1"/>
          </p:cNvSpPr>
          <p:nvPr>
            <p:ph type="sldNum" idx="12"/>
          </p:nvPr>
        </p:nvSpPr>
        <p:spPr>
          <a:xfrm>
            <a:off x="9448800" y="649290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 sz="2400">
                <a:solidFill>
                  <a:srgbClr val="38761D"/>
                </a:solidFill>
              </a:rPr>
              <a:t>9</a:t>
            </a:fld>
            <a:endParaRPr sz="2400">
              <a:solidFill>
                <a:srgbClr val="38761D"/>
              </a:solidFill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154550" y="4574750"/>
            <a:ext cx="8550300" cy="2164500"/>
          </a:xfrm>
          <a:prstGeom prst="roundRect">
            <a:avLst>
              <a:gd name="adj" fmla="val 8171"/>
            </a:avLst>
          </a:prstGeom>
          <a:noFill/>
          <a:ln w="2857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-UA" sz="2000">
                <a:solidFill>
                  <a:schemeClr val="dk1"/>
                </a:solidFill>
              </a:rPr>
              <a:t>Обладнання для аналізу мікро- та наноматеріалів забезпечує вивчення морфології, розмірів частинок, мікроструктури та просторового розподілу компонентів у мікро- та наноматеріалах, поверхні з високою просторовою роздільною здатністю. Також можливе визначення гідродинамічного розміру, розподілу за розмірами та ступеня агрегації мікро- та наночастинок у дисперсних системах.</a:t>
            </a:r>
            <a:endParaRPr sz="2000"/>
          </a:p>
        </p:txBody>
      </p:sp>
      <p:sp>
        <p:nvSpPr>
          <p:cNvPr id="223" name="Google Shape;223;p9"/>
          <p:cNvSpPr/>
          <p:nvPr/>
        </p:nvSpPr>
        <p:spPr>
          <a:xfrm>
            <a:off x="6300375" y="978925"/>
            <a:ext cx="2633700" cy="749700"/>
          </a:xfrm>
          <a:prstGeom prst="roundRect">
            <a:avLst>
              <a:gd name="adj" fmla="val 8171"/>
            </a:avLst>
          </a:prstGeom>
          <a:noFill/>
          <a:ln w="2857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-UA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Аналізатор розмірів частинок BeNano 90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6292813" y="2369575"/>
            <a:ext cx="2633700" cy="749700"/>
          </a:xfrm>
          <a:prstGeom prst="roundRect">
            <a:avLst>
              <a:gd name="adj" fmla="val 8171"/>
            </a:avLst>
          </a:prstGeom>
          <a:noFill/>
          <a:ln w="2857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6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-UA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Флуоресцентний мікроскоп Micromed XS-8530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25" name="Google Shape;225;p9"/>
          <p:cNvSpPr/>
          <p:nvPr/>
        </p:nvSpPr>
        <p:spPr>
          <a:xfrm rot="10800000">
            <a:off x="7237900" y="1736300"/>
            <a:ext cx="390600" cy="4617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93C47D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 rot="10800000" flipH="1">
            <a:off x="7514125" y="3155525"/>
            <a:ext cx="390600" cy="4617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93C47D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/>
          <p:nvPr/>
        </p:nvSpPr>
        <p:spPr>
          <a:xfrm>
            <a:off x="0" y="0"/>
            <a:ext cx="12192000" cy="9141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7800" y="0"/>
            <a:ext cx="914200" cy="9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950" y="-10825"/>
            <a:ext cx="926514" cy="9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0" descr="Зображення, що містить текст, знімок екрана, Шрифт, документ&#10;&#10;Вміст на основі ШІ може бути неправильним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415" y="1770427"/>
            <a:ext cx="6060292" cy="3582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0" descr="Зображення, що містить текст, знімок екрана, Шрифт, документ&#10;&#10;Вміст на основі ШІ може бути неправильним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02584" y="1685495"/>
            <a:ext cx="5911911" cy="375239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0"/>
          <p:cNvSpPr txBox="1"/>
          <p:nvPr/>
        </p:nvSpPr>
        <p:spPr>
          <a:xfrm>
            <a:off x="4024384" y="146292"/>
            <a:ext cx="437581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Нормативні документи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 txBox="1">
            <a:spLocks noGrp="1"/>
          </p:cNvSpPr>
          <p:nvPr>
            <p:ph type="sldNum" idx="12"/>
          </p:nvPr>
        </p:nvSpPr>
        <p:spPr>
          <a:xfrm>
            <a:off x="9448800" y="649290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 sz="2400">
                <a:solidFill>
                  <a:srgbClr val="38761D"/>
                </a:solidFill>
              </a:rPr>
              <a:t>10</a:t>
            </a:fld>
            <a:endParaRPr sz="24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"/>
          <p:cNvSpPr/>
          <p:nvPr/>
        </p:nvSpPr>
        <p:spPr>
          <a:xfrm>
            <a:off x="0" y="0"/>
            <a:ext cx="12192000" cy="9021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7800" y="0"/>
            <a:ext cx="914200" cy="9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942" y="-10816"/>
            <a:ext cx="914190" cy="90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60975" y="3452475"/>
            <a:ext cx="7331025" cy="340552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1"/>
          <p:cNvSpPr txBox="1"/>
          <p:nvPr/>
        </p:nvSpPr>
        <p:spPr>
          <a:xfrm>
            <a:off x="2470950" y="167950"/>
            <a:ext cx="725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Сайт ЦКК: </a:t>
            </a:r>
            <a:r>
              <a:rPr lang="uk-UA" sz="2400" u="sng" dirty="0">
                <a:solidFill>
                  <a:schemeClr val="hlink"/>
                </a:solidFill>
                <a:latin typeface="Arial Black"/>
                <a:ea typeface="Arial Black"/>
                <a:cs typeface="Arial Black"/>
                <a:sym typeface="Arial Black"/>
                <a:hlinkClick r:id="rId6"/>
              </a:rPr>
              <a:t>https://fhdnrm.knu.ua</a:t>
            </a:r>
            <a:r>
              <a:rPr lang="uk-UA" sz="2400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11" title="ЦКК_веб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914209"/>
            <a:ext cx="7250125" cy="330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 txBox="1">
            <a:spLocks noGrp="1"/>
          </p:cNvSpPr>
          <p:nvPr>
            <p:ph type="sldNum" idx="12"/>
          </p:nvPr>
        </p:nvSpPr>
        <p:spPr>
          <a:xfrm>
            <a:off x="9448800" y="649290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 sz="2400">
                <a:solidFill>
                  <a:srgbClr val="38761D"/>
                </a:solidFill>
              </a:rPr>
              <a:t>11</a:t>
            </a:fld>
            <a:endParaRPr sz="24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/>
          <p:cNvSpPr/>
          <p:nvPr/>
        </p:nvSpPr>
        <p:spPr>
          <a:xfrm>
            <a:off x="0" y="0"/>
            <a:ext cx="12192000" cy="9021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7800" y="0"/>
            <a:ext cx="914200" cy="9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950" y="-10825"/>
            <a:ext cx="914200" cy="90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2"/>
          <p:cNvSpPr txBox="1"/>
          <p:nvPr/>
        </p:nvSpPr>
        <p:spPr>
          <a:xfrm>
            <a:off x="3008526" y="155167"/>
            <a:ext cx="683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Поточні кроки для створення ЦКК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 txBox="1">
            <a:spLocks noGrp="1"/>
          </p:cNvSpPr>
          <p:nvPr>
            <p:ph type="sldNum" idx="12"/>
          </p:nvPr>
        </p:nvSpPr>
        <p:spPr>
          <a:xfrm>
            <a:off x="9448800" y="649290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 sz="2400">
                <a:solidFill>
                  <a:srgbClr val="38761D"/>
                </a:solidFill>
              </a:rPr>
              <a:t>12</a:t>
            </a:fld>
            <a:endParaRPr sz="2400">
              <a:solidFill>
                <a:srgbClr val="38761D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9A7295-F063-4AD5-D755-0504A32A31FC}"/>
              </a:ext>
            </a:extLst>
          </p:cNvPr>
          <p:cNvSpPr txBox="1"/>
          <p:nvPr/>
        </p:nvSpPr>
        <p:spPr>
          <a:xfrm>
            <a:off x="491890" y="1260859"/>
            <a:ext cx="68324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uk-UA" sz="2400" dirty="0" err="1"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Розляд</a:t>
            </a:r>
            <a:r>
              <a:rPr lang="uk-UA" sz="2400" dirty="0"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 на НТР</a:t>
            </a:r>
          </a:p>
          <a:p>
            <a:pPr marL="457200" indent="-457200">
              <a:buAutoNum type="arabicPeriod"/>
            </a:pPr>
            <a:r>
              <a:rPr lang="uk-UA" sz="2400" dirty="0" err="1">
                <a:latin typeface="Arial Black" panose="020B0A04020102020204" pitchFamily="34" charset="0"/>
              </a:rPr>
              <a:t>Розляд</a:t>
            </a:r>
            <a:r>
              <a:rPr lang="uk-UA" sz="2400" dirty="0">
                <a:latin typeface="Arial Black" panose="020B0A04020102020204" pitchFamily="34" charset="0"/>
              </a:rPr>
              <a:t> на Вченій раді</a:t>
            </a:r>
          </a:p>
          <a:p>
            <a:pPr marL="457200" indent="-457200">
              <a:buAutoNum type="arabicPeriod"/>
            </a:pPr>
            <a:r>
              <a:rPr lang="uk-UA" sz="2400" dirty="0">
                <a:latin typeface="Arial Black" panose="020B0A04020102020204" pitchFamily="34" charset="0"/>
              </a:rPr>
              <a:t>Наказ про створення ЦКК</a:t>
            </a:r>
          </a:p>
          <a:p>
            <a:pPr marL="457200" indent="-457200">
              <a:buAutoNum type="arabicPeriod"/>
            </a:pPr>
            <a:r>
              <a:rPr lang="uk-UA" sz="2400" dirty="0">
                <a:latin typeface="Arial Black" panose="020B0A04020102020204" pitchFamily="34" charset="0"/>
              </a:rPr>
              <a:t>Реєстрація в МОН</a:t>
            </a:r>
            <a:endParaRPr lang="uk-UA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3EE0F8-ECF8-FC28-F5A9-8F85E2267741}"/>
              </a:ext>
            </a:extLst>
          </p:cNvPr>
          <p:cNvSpPr txBox="1"/>
          <p:nvPr/>
        </p:nvSpPr>
        <p:spPr>
          <a:xfrm>
            <a:off x="4982004" y="3185193"/>
            <a:ext cx="683241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uk-UA" sz="2400" dirty="0"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Створення сайту ЦКК</a:t>
            </a:r>
          </a:p>
          <a:p>
            <a:pPr marL="457200" indent="-457200">
              <a:buAutoNum type="arabicPeriod"/>
            </a:pPr>
            <a:r>
              <a:rPr lang="uk-UA" sz="2400" dirty="0">
                <a:latin typeface="Arial Black" panose="020B0A04020102020204" pitchFamily="34" charset="0"/>
              </a:rPr>
              <a:t>Наповнення сайту інформацією про прилади та можливі дослідження</a:t>
            </a:r>
          </a:p>
          <a:p>
            <a:pPr marL="457200" indent="-457200">
              <a:buAutoNum type="arabicPeriod"/>
            </a:pPr>
            <a:r>
              <a:rPr lang="uk-UA" sz="2400" dirty="0">
                <a:latin typeface="Arial Black" panose="020B0A04020102020204" pitchFamily="34" charset="0"/>
              </a:rPr>
              <a:t>Поширення інформації про ЦКК через ресурси університету та в соціальних мережах</a:t>
            </a:r>
          </a:p>
          <a:p>
            <a:pPr marL="457200" indent="-457200">
              <a:buAutoNum type="arabicPeriod"/>
            </a:pPr>
            <a:r>
              <a:rPr lang="uk-UA" sz="2400" dirty="0">
                <a:latin typeface="Arial Black" panose="020B0A04020102020204" pitchFamily="34" charset="0"/>
              </a:rPr>
              <a:t>Організація спрощеного доступу та комунікації</a:t>
            </a:r>
            <a:endParaRPr lang="uk-UA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492</Words>
  <Application>Microsoft Office PowerPoint</Application>
  <PresentationFormat>Широкий екран</PresentationFormat>
  <Paragraphs>73</Paragraphs>
  <Slides>12</Slides>
  <Notes>12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7" baseType="lpstr">
      <vt:lpstr>Arial Black</vt:lpstr>
      <vt:lpstr>Times New Roman</vt:lpstr>
      <vt:lpstr>Arial</vt:lpstr>
      <vt:lpstr>Calibri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Illia Guralskyi</dc:creator>
  <cp:lastModifiedBy>Illia Guralskyi</cp:lastModifiedBy>
  <cp:revision>2</cp:revision>
  <dcterms:created xsi:type="dcterms:W3CDTF">2026-02-17T13:06:13Z</dcterms:created>
  <dcterms:modified xsi:type="dcterms:W3CDTF">2026-02-18T09:55:49Z</dcterms:modified>
</cp:coreProperties>
</file>