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365" r:id="rId2"/>
    <p:sldId id="367" r:id="rId3"/>
    <p:sldId id="368" r:id="rId4"/>
    <p:sldId id="369" r:id="rId5"/>
    <p:sldId id="370" r:id="rId6"/>
    <p:sldId id="371" r:id="rId7"/>
    <p:sldId id="372" r:id="rId8"/>
    <p:sldId id="373" r:id="rId9"/>
    <p:sldId id="375" r:id="rId10"/>
    <p:sldId id="374" r:id="rId11"/>
    <p:sldId id="376" r:id="rId12"/>
    <p:sldId id="377" r:id="rId13"/>
    <p:sldId id="378" r:id="rId14"/>
    <p:sldId id="379" r:id="rId15"/>
    <p:sldId id="3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468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D079F-D4B7-444B-AD40-63B91DEEE057}" type="datetimeFigureOut">
              <a:rPr lang="uk-UA" smtClean="0"/>
              <a:t>16.02.2026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CFD32-8EAC-40D0-92C4-67FEAE049B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774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44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0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02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358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40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96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49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74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32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35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90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7C9896ED-81F6-4012-9622-0A54470F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34"/>
          <a:stretch>
            <a:fillRect/>
          </a:stretch>
        </p:blipFill>
        <p:spPr bwMode="auto">
          <a:xfrm>
            <a:off x="-9231" y="-1"/>
            <a:ext cx="12130346" cy="2186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3BAB07-E0B9-419A-B4B9-5B87D1741F94}"/>
              </a:ext>
            </a:extLst>
          </p:cNvPr>
          <p:cNvSpPr txBox="1"/>
          <p:nvPr/>
        </p:nvSpPr>
        <p:spPr>
          <a:xfrm>
            <a:off x="0" y="2168720"/>
            <a:ext cx="1213034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uk-UA" kern="0" cap="all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київський національний університет імені тараса Шевченка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3A36A-ED46-42E5-9C55-18C9971A69E5}"/>
              </a:ext>
            </a:extLst>
          </p:cNvPr>
          <p:cNvSpPr txBox="1"/>
          <p:nvPr/>
        </p:nvSpPr>
        <p:spPr>
          <a:xfrm>
            <a:off x="325820" y="2860664"/>
            <a:ext cx="11540359" cy="96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експериментальн</a:t>
            </a:r>
            <a:r>
              <a:rPr lang="uk-UA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ий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проєкт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з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підготовки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здобувачів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ступеня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доктора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філософії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в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проєктній</a:t>
            </a:r>
            <a:r>
              <a:rPr lang="ru-RU" sz="2000" cap="all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ru-RU" sz="2000" cap="all" dirty="0" err="1">
                <a:solidFill>
                  <a:srgbClr val="FF0000"/>
                </a:solidFill>
                <a:latin typeface="Arial Black" panose="020B0A04020102020204" pitchFamily="34" charset="0"/>
              </a:rPr>
              <a:t>аспірантурі</a:t>
            </a:r>
            <a:endParaRPr lang="uk-UA" sz="2000" b="1" cap="all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CC9971-B80F-4D12-A24E-23FA468CFEC7}"/>
              </a:ext>
            </a:extLst>
          </p:cNvPr>
          <p:cNvSpPr txBox="1"/>
          <p:nvPr/>
        </p:nvSpPr>
        <p:spPr>
          <a:xfrm>
            <a:off x="557526" y="3966439"/>
            <a:ext cx="11540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останова </a:t>
            </a:r>
            <a:r>
              <a:rPr lang="ru-RU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Кабінету</a:t>
            </a:r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Міністрів</a:t>
            </a:r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України</a:t>
            </a:r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05 лютого 2026 р. № 164</a:t>
            </a:r>
            <a:endParaRPr lang="uk-UA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32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80CD5E-349E-4AF1-9352-3000916F87A4}"/>
              </a:ext>
            </a:extLst>
          </p:cNvPr>
          <p:cNvSpPr txBox="1"/>
          <p:nvPr/>
        </p:nvSpPr>
        <p:spPr>
          <a:xfrm>
            <a:off x="347700" y="907828"/>
            <a:ext cx="1144927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Порядок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реалізації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експериментального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проєкту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з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підготовки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здобувачів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ступеня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доктора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філософії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проектній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аспірантурі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визначає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механізм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з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підготовки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здобувачів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ступеня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доктора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філософії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проєктній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аспірантурі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за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тематичним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напрямом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наукових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досліджень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  <a:buClr>
                <a:srgbClr val="C00000"/>
              </a:buClr>
              <a:buSzPct val="200000"/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галузі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знань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lang="ru-RU" sz="1800" b="1" cap="all" dirty="0" err="1">
                <a:latin typeface="Arial" panose="020B0604020202020204" pitchFamily="34" charset="0"/>
                <a:cs typeface="Arial" panose="020B0604020202020204" pitchFamily="34" charset="0"/>
              </a:rPr>
              <a:t>Природничі</a:t>
            </a:r>
            <a:r>
              <a:rPr lang="ru-RU" sz="1800" b="1" cap="all" dirty="0">
                <a:latin typeface="Arial" panose="020B0604020202020204" pitchFamily="34" charset="0"/>
                <a:cs typeface="Arial" panose="020B0604020202020204" pitchFamily="34" charset="0"/>
              </a:rPr>
              <a:t> науки, математика та статистика»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>
              <a:lnSpc>
                <a:spcPct val="150000"/>
              </a:lnSpc>
              <a:buClr>
                <a:srgbClr val="C00000"/>
              </a:buClr>
              <a:buSzPct val="200000"/>
            </a:pP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є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складовою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STEM-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освіти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2C5BF-35C9-46C2-BAA2-4DCA45B5B311}"/>
              </a:ext>
            </a:extLst>
          </p:cNvPr>
          <p:cNvSpPr txBox="1"/>
          <p:nvPr/>
        </p:nvSpPr>
        <p:spPr>
          <a:xfrm>
            <a:off x="5375920" y="3501008"/>
            <a:ext cx="6552728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uk-UA" b="1" cap="all" dirty="0">
                <a:latin typeface="Arial" panose="020B0604020202020204" pitchFamily="34" charset="0"/>
                <a:cs typeface="Arial" panose="020B0604020202020204" pitchFamily="34" charset="0"/>
              </a:rPr>
              <a:t>Ключові спеціальності </a:t>
            </a:r>
            <a:r>
              <a:rPr lang="ru-RU" sz="1800" cap="all" dirty="0" err="1">
                <a:latin typeface="Arial" panose="020B0604020202020204" pitchFamily="34" charset="0"/>
                <a:cs typeface="Arial" panose="020B0604020202020204" pitchFamily="34" charset="0"/>
              </a:rPr>
              <a:t>галузі</a:t>
            </a:r>
            <a:r>
              <a:rPr lang="ru-RU" sz="1800" cap="al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cap="all" dirty="0" err="1">
                <a:latin typeface="Arial" panose="020B0604020202020204" pitchFamily="34" charset="0"/>
                <a:cs typeface="Arial" panose="020B0604020202020204" pitchFamily="34" charset="0"/>
              </a:rPr>
              <a:t>знань</a:t>
            </a:r>
            <a:r>
              <a:rPr lang="ru-RU" sz="1800" cap="al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1800" b="1" cap="all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1800" b="1" cap="all" dirty="0" err="1">
                <a:latin typeface="Arial" panose="020B0604020202020204" pitchFamily="34" charset="0"/>
                <a:cs typeface="Arial" panose="020B0604020202020204" pitchFamily="34" charset="0"/>
              </a:rPr>
              <a:t>Природничі</a:t>
            </a:r>
            <a:r>
              <a:rPr lang="ru-RU" sz="1800" b="1" cap="all" dirty="0">
                <a:latin typeface="Arial" panose="020B0604020202020204" pitchFamily="34" charset="0"/>
                <a:cs typeface="Arial" panose="020B0604020202020204" pitchFamily="34" charset="0"/>
              </a:rPr>
              <a:t> науки, математика та статистика:</a:t>
            </a:r>
          </a:p>
          <a:p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Біологія та біохімія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Екологія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Хімія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Науки про Землю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Фізика та астрономія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Прикладна фізика та </a:t>
            </a:r>
            <a:r>
              <a:rPr lang="uk-UA" dirty="0" err="1">
                <a:latin typeface="Arial" panose="020B0604020202020204" pitchFamily="34" charset="0"/>
                <a:cs typeface="Arial" panose="020B0604020202020204" pitchFamily="34" charset="0"/>
              </a:rPr>
              <a:t>наноматеріали</a:t>
            </a:r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Математика</a:t>
            </a:r>
          </a:p>
          <a:p>
            <a:pPr>
              <a:buFont typeface="+mj-lt"/>
              <a:buAutoNum type="arabicPeriod"/>
            </a:pP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Статистика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5672D5E-547A-4C51-922B-521594C82376}"/>
              </a:ext>
            </a:extLst>
          </p:cNvPr>
          <p:cNvSpPr txBox="1">
            <a:spLocks/>
          </p:cNvSpPr>
          <p:nvPr/>
        </p:nvSpPr>
        <p:spPr>
          <a:xfrm>
            <a:off x="0" y="243476"/>
            <a:ext cx="12144672" cy="504056"/>
          </a:xfrm>
          <a:prstGeom prst="rect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400" cap="all" dirty="0" err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ПроЄктна</a:t>
            </a:r>
            <a:r>
              <a:rPr lang="uk-UA" sz="2400" cap="all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аспірантура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ADFA1-BD38-4679-83AB-7C62EA9D1907}"/>
              </a:ext>
            </a:extLst>
          </p:cNvPr>
          <p:cNvSpPr txBox="1"/>
          <p:nvPr/>
        </p:nvSpPr>
        <p:spPr>
          <a:xfrm>
            <a:off x="347700" y="3682467"/>
            <a:ext cx="4464496" cy="2776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uk-UA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STEM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 – це акронім, утворений від слів:</a:t>
            </a:r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SzPct val="150000"/>
              <a:buFont typeface="Wingdings" panose="05000000000000000000" pitchFamily="2" charset="2"/>
              <a:buChar char="ü"/>
            </a:pPr>
            <a:r>
              <a:rPr lang="uk-UA" dirty="0" err="1">
                <a:latin typeface="Arial Black" panose="020B0A04020102020204" pitchFamily="34" charset="0"/>
                <a:cs typeface="Arial" panose="020B0604020202020204" pitchFamily="34" charset="0"/>
              </a:rPr>
              <a:t>Science</a:t>
            </a:r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 /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природничі науки </a:t>
            </a:r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SzPct val="150000"/>
              <a:buFont typeface="Wingdings" panose="05000000000000000000" pitchFamily="2" charset="2"/>
              <a:buChar char="ü"/>
            </a:pPr>
            <a:r>
              <a:rPr lang="uk-UA" dirty="0" err="1">
                <a:latin typeface="Arial Black" panose="020B0A04020102020204" pitchFamily="34" charset="0"/>
                <a:cs typeface="Arial" panose="020B0604020202020204" pitchFamily="34" charset="0"/>
              </a:rPr>
              <a:t>Technology</a:t>
            </a:r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 /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технологія </a:t>
            </a:r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SzPct val="150000"/>
              <a:buFont typeface="Wingdings" panose="05000000000000000000" pitchFamily="2" charset="2"/>
              <a:buChar char="ü"/>
            </a:pPr>
            <a:r>
              <a:rPr lang="uk-UA" dirty="0" err="1">
                <a:latin typeface="Arial Black" panose="020B0A04020102020204" pitchFamily="34" charset="0"/>
                <a:cs typeface="Arial" panose="020B0604020202020204" pitchFamily="34" charset="0"/>
              </a:rPr>
              <a:t>Engineering</a:t>
            </a:r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 /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інженерія</a:t>
            </a:r>
          </a:p>
          <a:p>
            <a:pPr marL="285750" indent="-285750">
              <a:lnSpc>
                <a:spcPct val="200000"/>
              </a:lnSpc>
              <a:buClr>
                <a:srgbClr val="FF0000"/>
              </a:buClr>
              <a:buSzPct val="150000"/>
              <a:buFont typeface="Wingdings" panose="05000000000000000000" pitchFamily="2" charset="2"/>
              <a:buChar char="ü"/>
            </a:pPr>
            <a:r>
              <a:rPr lang="uk-UA" dirty="0" err="1">
                <a:latin typeface="Arial Black" panose="020B0A04020102020204" pitchFamily="34" charset="0"/>
                <a:cs typeface="Arial" panose="020B0604020202020204" pitchFamily="34" charset="0"/>
              </a:rPr>
              <a:t>Mathematics</a:t>
            </a:r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 / 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математика </a:t>
            </a:r>
          </a:p>
        </p:txBody>
      </p:sp>
      <p:sp>
        <p:nvSpPr>
          <p:cNvPr id="9" name="Рівнобедрений трикутник 8">
            <a:extLst>
              <a:ext uri="{FF2B5EF4-FFF2-40B4-BE49-F238E27FC236}">
                <a16:creationId xmlns:a16="http://schemas.microsoft.com/office/drawing/2014/main" id="{AF8F6643-83A7-4E70-9A6E-769D2496FD40}"/>
              </a:ext>
            </a:extLst>
          </p:cNvPr>
          <p:cNvSpPr/>
          <p:nvPr/>
        </p:nvSpPr>
        <p:spPr>
          <a:xfrm rot="5400000">
            <a:off x="4664669" y="4725144"/>
            <a:ext cx="576064" cy="79208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814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B7B6DC-9158-47E0-94D2-060B4143ED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4" b="28842"/>
          <a:stretch/>
        </p:blipFill>
        <p:spPr>
          <a:xfrm>
            <a:off x="-18473" y="0"/>
            <a:ext cx="12210473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A52156-35AC-4204-BC44-AF5B532A63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23045" y="6137920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3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71DE23-2C8D-4343-A32F-F5AA876B5E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50" b="26901"/>
          <a:stretch/>
        </p:blipFill>
        <p:spPr>
          <a:xfrm>
            <a:off x="0" y="-30368"/>
            <a:ext cx="12192000" cy="688836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086F1D-8849-402A-B236-A72E1AED10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9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4E2145-0A41-48B0-AA95-13F41C677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01" b="26900"/>
          <a:stretch/>
        </p:blipFill>
        <p:spPr>
          <a:xfrm>
            <a:off x="17872" y="11295"/>
            <a:ext cx="12174128" cy="686873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BE6910-33F0-4873-8AA0-47A8B31B63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3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643076-6029-4971-B7D3-135526393E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50" b="26901"/>
          <a:stretch/>
        </p:blipFill>
        <p:spPr>
          <a:xfrm>
            <a:off x="0" y="52265"/>
            <a:ext cx="12192000" cy="681304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177A4A-80C4-43D2-ACAA-9A19559367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5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7C2B2B-A176-4B16-A03C-01C2A899A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150" b="2690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E4ECE2-0470-4F3A-AA75-9B512910292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1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79BD5E-3810-48B8-8F7F-A91C998C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b="26901"/>
          <a:stretch/>
        </p:blipFill>
        <p:spPr>
          <a:xfrm>
            <a:off x="0" y="1"/>
            <a:ext cx="12191999" cy="688666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450BD9-1C8D-4CF7-A71A-A4434DA54A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8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704CA0-0D4B-43B3-9BC4-4797073198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1" b="27299"/>
          <a:stretch/>
        </p:blipFill>
        <p:spPr>
          <a:xfrm>
            <a:off x="-7816" y="1"/>
            <a:ext cx="12199816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6E3779-D17B-4A54-A2EC-163CEEF0E0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3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EFB895-C14D-4243-988F-1E79EE113C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b="26901"/>
          <a:stretch/>
        </p:blipFill>
        <p:spPr>
          <a:xfrm>
            <a:off x="0" y="-28663"/>
            <a:ext cx="12192000" cy="688666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9A6245-0891-48C8-AF56-1097D4EB86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7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D7B347-9B0D-41FA-935F-F07152A5D6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b="26901"/>
          <a:stretch/>
        </p:blipFill>
        <p:spPr>
          <a:xfrm>
            <a:off x="0" y="-28663"/>
            <a:ext cx="12192000" cy="688666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EE8370-1302-4004-BAA3-362344F0116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7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5AF0C2-F7BF-4355-8721-5340E01268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b="26901"/>
          <a:stretch/>
        </p:blipFill>
        <p:spPr>
          <a:xfrm>
            <a:off x="0" y="0"/>
            <a:ext cx="12192000" cy="688666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46B065-EFDA-4359-9E3D-22F8D50813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67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9CA65E-AF2F-46F2-BC60-15678F2013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52" b="26901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8BCC8A-9107-4CEC-A0AE-DB772F80A7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9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E2EF1F-AD51-41A0-8DFC-137380F799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b="2690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7EA75C-65A5-4FC0-B386-014E929DEE4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58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5FE2B0-30A5-48B1-82D3-ECE2F401F5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52" b="2690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B57A6D-0E4B-465B-A68B-1A76B6439E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59094" b="67850"/>
          <a:stretch/>
        </p:blipFill>
        <p:spPr>
          <a:xfrm>
            <a:off x="9600884" y="5877272"/>
            <a:ext cx="2591116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685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137</Words>
  <Application>Microsoft Office PowerPoint</Application>
  <PresentationFormat>Широкий екран</PresentationFormat>
  <Paragraphs>24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Wingdings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ПОРЯДОК  реалізації експериментального проекту з підготовки здобувачів ступеня доктора філософії в проектній аспірантурі</dc:title>
  <dc:creator>VPANPK</dc:creator>
  <cp:lastModifiedBy>TSV</cp:lastModifiedBy>
  <cp:revision>72</cp:revision>
  <dcterms:created xsi:type="dcterms:W3CDTF">2026-02-13T07:24:15Z</dcterms:created>
  <dcterms:modified xsi:type="dcterms:W3CDTF">2026-02-15T22:55:26Z</dcterms:modified>
</cp:coreProperties>
</file>