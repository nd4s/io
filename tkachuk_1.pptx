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7"/>
  </p:notesMasterIdLst>
  <p:sldIdLst>
    <p:sldId id="365" r:id="rId2"/>
    <p:sldId id="388" r:id="rId3"/>
    <p:sldId id="366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4" r:id="rId21"/>
    <p:sldId id="385" r:id="rId22"/>
    <p:sldId id="383" r:id="rId23"/>
    <p:sldId id="389" r:id="rId24"/>
    <p:sldId id="386" r:id="rId25"/>
    <p:sldId id="38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4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0.12916120275483078"/>
          <c:w val="0.5193905812437497"/>
          <c:h val="0.794947105102683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4C-41AD-9EC6-54D25C15002F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Лист1!$B$1:$I$1</c:f>
              <c:strCache>
                <c:ptCount val="8"/>
                <c:pt idx="0">
                  <c:v>Всі блоки разом (узагальнена оцінка)</c:v>
                </c:pt>
                <c:pt idx="1">
                  <c:v>1. Зміст освітньої програми та якість викладання (узагальнена оцінка)</c:v>
                </c:pt>
                <c:pt idx="2">
                  <c:v>2. Комунікація з науковим керівником (узагальнена оцінка)</c:v>
                </c:pt>
                <c:pt idx="3">
                  <c:v>3. Матеріальне забезпечення навчального процесу (узагальнена оцінка)</c:v>
                </c:pt>
                <c:pt idx="4">
                  <c:v>4. Академічна мобільність та апробація результатів (узагальнена оцінка)</c:v>
                </c:pt>
                <c:pt idx="5">
                  <c:v>5. Академічна доброчесність (узагальнена оцінка)</c:v>
                </c:pt>
                <c:pt idx="6">
                  <c:v>6. Конфліктні ситуації та їх вирішення (узагальнена оцінка)</c:v>
                </c:pt>
                <c:pt idx="7">
                  <c:v>7. Залученість до змін освітньої програми (узагальнена оцінка)</c:v>
                </c:pt>
              </c:strCache>
            </c:strRef>
          </c:cat>
          <c:val>
            <c:numRef>
              <c:f>Лист1!$B$2:$I$2</c:f>
              <c:numCache>
                <c:formatCode>General</c:formatCode>
                <c:ptCount val="8"/>
                <c:pt idx="0">
                  <c:v>1.8691302307735906</c:v>
                </c:pt>
                <c:pt idx="1">
                  <c:v>1.9565180396884305</c:v>
                </c:pt>
                <c:pt idx="2">
                  <c:v>2.5274674115456235</c:v>
                </c:pt>
                <c:pt idx="3">
                  <c:v>1.4226256983240224</c:v>
                </c:pt>
                <c:pt idx="4">
                  <c:v>0.93386837881219942</c:v>
                </c:pt>
                <c:pt idx="5">
                  <c:v>2.6133147113594046</c:v>
                </c:pt>
                <c:pt idx="6">
                  <c:v>1.7796610169491527</c:v>
                </c:pt>
                <c:pt idx="7">
                  <c:v>1.163793103448276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4C-41AD-9EC6-54D25C150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5A-4435-B903-AF8B31F54E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Економічний факультет</c:v>
                </c:pt>
                <c:pt idx="4">
                  <c:v>ННІ філології</c:v>
                </c:pt>
                <c:pt idx="5">
                  <c:v>Географічний факультет</c:v>
                </c:pt>
                <c:pt idx="6">
                  <c:v>Філософський факультет</c:v>
                </c:pt>
                <c:pt idx="7">
                  <c:v>Історичний факультет</c:v>
                </c:pt>
                <c:pt idx="8">
                  <c:v>Факультет інформаційних технологій</c:v>
                </c:pt>
                <c:pt idx="9">
                  <c:v>Хімічний факультет</c:v>
                </c:pt>
                <c:pt idx="10">
                  <c:v>ННІ міжнародних відносин</c:v>
                </c:pt>
                <c:pt idx="11">
                  <c:v>Факультет комп'ютерних наук та кібернетики</c:v>
                </c:pt>
                <c:pt idx="12">
                  <c:v>ННІ права</c:v>
                </c:pt>
                <c:pt idx="13">
                  <c:v>Факультет психології</c:v>
                </c:pt>
                <c:pt idx="14">
                  <c:v>ФРЕКС</c:v>
                </c:pt>
                <c:pt idx="15">
                  <c:v>Військовий інститутт</c:v>
                </c:pt>
                <c:pt idx="16">
                  <c:v>ННІ журналістики</c:v>
                </c:pt>
                <c:pt idx="17">
                  <c:v>ННІ високих технологій</c:v>
                </c:pt>
                <c:pt idx="18">
                  <c:v>ННІ «Інститутт геології»</c:v>
                </c:pt>
                <c:pt idx="19">
                  <c:v>ННЦ «Інститут біології та медицини»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1.8691302307735906</c:v>
                </c:pt>
                <c:pt idx="2" formatCode="0.00">
                  <c:v>2.5951078996191779</c:v>
                </c:pt>
                <c:pt idx="3" formatCode="0.00">
                  <c:v>2.2663631264912505</c:v>
                </c:pt>
                <c:pt idx="4" formatCode="0.00">
                  <c:v>2.1812526625295634</c:v>
                </c:pt>
                <c:pt idx="5" formatCode="0.00">
                  <c:v>2.1500679610864051</c:v>
                </c:pt>
                <c:pt idx="6" formatCode="0.00">
                  <c:v>2.1473989024421849</c:v>
                </c:pt>
                <c:pt idx="7" formatCode="0.00">
                  <c:v>2.022047000618429</c:v>
                </c:pt>
                <c:pt idx="8" formatCode="0.00">
                  <c:v>1.9353008468140049</c:v>
                </c:pt>
                <c:pt idx="9" formatCode="0.00">
                  <c:v>1.8122609628139972</c:v>
                </c:pt>
                <c:pt idx="10" formatCode="0.00">
                  <c:v>1.7896176900052869</c:v>
                </c:pt>
                <c:pt idx="11" formatCode="0.00">
                  <c:v>1.764408607094146</c:v>
                </c:pt>
                <c:pt idx="12" formatCode="0.00">
                  <c:v>1.7518028582825749</c:v>
                </c:pt>
                <c:pt idx="13" formatCode="0.00">
                  <c:v>1.7444444444444445</c:v>
                </c:pt>
                <c:pt idx="14" formatCode="0.00">
                  <c:v>1.7155877981798937</c:v>
                </c:pt>
                <c:pt idx="15" formatCode="0.00">
                  <c:v>1.6888888888888889</c:v>
                </c:pt>
                <c:pt idx="16" formatCode="0.00">
                  <c:v>1.5131709934035515</c:v>
                </c:pt>
                <c:pt idx="17" formatCode="0.00">
                  <c:v>1.3822772545691764</c:v>
                </c:pt>
                <c:pt idx="18" formatCode="0.00">
                  <c:v>1.1537037037037037</c:v>
                </c:pt>
                <c:pt idx="19" formatCode="0.00">
                  <c:v>0.81553030303030305</c:v>
                </c:pt>
                <c:pt idx="20" formatCode="0.00">
                  <c:v>0.43847388614830474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5A-4435-B903-AF8B31F54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6C-4AB5-BDDB-CB6FB1794059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Лист1!$B$1:$R$1</c:f>
              <c:strCache>
                <c:ptCount val="17"/>
                <c:pt idx="0">
                  <c:v>1. Зміст освітньої програми та якість викладання (узагальнена оцінка)</c:v>
                </c:pt>
                <c:pt idx="1">
                  <c:v>1.1. Опис ОНП є цілком зрозумілим</c:v>
                </c:pt>
                <c:pt idx="2">
                  <c:v>1.2. Опис ОНП відповідає реальному процесу навчання</c:v>
                </c:pt>
                <c:pt idx="3">
                  <c:v>1.3. Опис ОНП та всіх дисциплін є у вільному доступі (напр., на сайті ун-ту)</c:v>
                </c:pt>
                <c:pt idx="4">
                  <c:v>1.4. Я чітко поінформований/а про етапи навчання</c:v>
                </c:pt>
                <c:pt idx="5">
                  <c:v>1.5. Перелік та зміст обов’язкових дисциплін відповідає меті ОНП</c:v>
                </c:pt>
                <c:pt idx="6">
                  <c:v>1.6. Обов’язкові навчальні дисципліни викладаються на належному проф. рівні</c:v>
                </c:pt>
                <c:pt idx="7">
                  <c:v>1.7. Процес обрання дисциплін вільного вибору є прозорим та зрозумілим</c:v>
                </c:pt>
                <c:pt idx="8">
                  <c:v>1.8. Серед дисциплін вільного вибору є такі, що відповідають моїм наук. та особистим інтересам</c:v>
                </c:pt>
                <c:pt idx="9">
                  <c:v>1.9. Дисципліни вільного вибору в цілому викладаються на належному проф. рівні</c:v>
                </c:pt>
                <c:pt idx="10">
                  <c:v>1.10. Критерії оцінювання знань є прозорими та зрозумілими</c:v>
                </c:pt>
                <c:pt idx="11">
                  <c:v>1.11. Розклад занять є зручним</c:v>
                </c:pt>
                <c:pt idx="12">
                  <c:v>1.12. Мені зрозумілі обсяги та умови проходження асист. (пед.) практики</c:v>
                </c:pt>
                <c:pt idx="13">
                  <c:v>1.1. Процедура оцінювання проходження асист. (пед.) практики зрозуміла та прозора</c:v>
                </c:pt>
                <c:pt idx="14">
                  <c:v>1.14. Дисципліни ОНП забезп. належ. рівень англомов. академ. письма, достат. для комунік. в міжнарод. наук. середовищі</c:v>
                </c:pt>
                <c:pt idx="15">
                  <c:v>1.15. Процедура оскарження результатів навчання є прозорою та зрозумілою</c:v>
                </c:pt>
                <c:pt idx="16">
                  <c:v>1.16. Я чітко поінформований/а про підготовку до захисту та саму процедуру захисту дис. проєкту</c:v>
                </c:pt>
              </c:strCache>
            </c:strRef>
          </c:cat>
          <c:val>
            <c:numRef>
              <c:f>Лист1!$B$2:$R$2</c:f>
              <c:numCache>
                <c:formatCode>0.00</c:formatCode>
                <c:ptCount val="17"/>
                <c:pt idx="0">
                  <c:v>1.9565180396884305</c:v>
                </c:pt>
                <c:pt idx="1">
                  <c:v>2.1321839080459752</c:v>
                </c:pt>
                <c:pt idx="2">
                  <c:v>2.1206896551724141</c:v>
                </c:pt>
                <c:pt idx="3">
                  <c:v>2.1337209302325584</c:v>
                </c:pt>
                <c:pt idx="4">
                  <c:v>2.0223463687150849</c:v>
                </c:pt>
                <c:pt idx="5">
                  <c:v>1.8352272727272723</c:v>
                </c:pt>
                <c:pt idx="6">
                  <c:v>2.1067415730337076</c:v>
                </c:pt>
                <c:pt idx="7">
                  <c:v>1.8651685393258428</c:v>
                </c:pt>
                <c:pt idx="8">
                  <c:v>1.9830508474576269</c:v>
                </c:pt>
                <c:pt idx="9">
                  <c:v>2.2921348314606753</c:v>
                </c:pt>
                <c:pt idx="10">
                  <c:v>2.089385474860336</c:v>
                </c:pt>
                <c:pt idx="11">
                  <c:v>1.735955056179775</c:v>
                </c:pt>
                <c:pt idx="12">
                  <c:v>2.0279329608938528</c:v>
                </c:pt>
                <c:pt idx="13">
                  <c:v>2.1091954022988508</c:v>
                </c:pt>
                <c:pt idx="14">
                  <c:v>1.6420454545454546</c:v>
                </c:pt>
                <c:pt idx="15">
                  <c:v>1.6827586206896545</c:v>
                </c:pt>
                <c:pt idx="16">
                  <c:v>1.5828571428571427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6C-4AB5-BDDB-CB6FB179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uk-UA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1. Зміст освітньої програми та якість викладання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3C-4CA4-B92D-B6EC78A1F86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Військовий інститут</c:v>
                </c:pt>
                <c:pt idx="4">
                  <c:v>Географічний факультет</c:v>
                </c:pt>
                <c:pt idx="5">
                  <c:v>Економічний факультет</c:v>
                </c:pt>
                <c:pt idx="6">
                  <c:v>Філософський факультет</c:v>
                </c:pt>
                <c:pt idx="7">
                  <c:v>ННІ філології</c:v>
                </c:pt>
                <c:pt idx="8">
                  <c:v>Факультет психології</c:v>
                </c:pt>
                <c:pt idx="9">
                  <c:v>Історичний факультет</c:v>
                </c:pt>
                <c:pt idx="10">
                  <c:v>Факультет комп'ютерних наук та кібернетики</c:v>
                </c:pt>
                <c:pt idx="11">
                  <c:v>Факультет інформаційних технологій</c:v>
                </c:pt>
                <c:pt idx="12">
                  <c:v>ННІ права</c:v>
                </c:pt>
                <c:pt idx="13">
                  <c:v>Хімічний факультет</c:v>
                </c:pt>
                <c:pt idx="14">
                  <c:v>ФРЕКС</c:v>
                </c:pt>
                <c:pt idx="15">
                  <c:v>ННІ високих технологій</c:v>
                </c:pt>
                <c:pt idx="16">
                  <c:v>ННІ міжнародних відносин</c:v>
                </c:pt>
                <c:pt idx="17">
                  <c:v>ННІ журналістики</c:v>
                </c:pt>
                <c:pt idx="18">
                  <c:v>ННІ «Інститут геології»</c:v>
                </c:pt>
                <c:pt idx="19">
                  <c:v>ННЦ «Інститут біології та медицини»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1.9565180396884305</c:v>
                </c:pt>
                <c:pt idx="2" formatCode="0.00">
                  <c:v>2.535714285714286</c:v>
                </c:pt>
                <c:pt idx="3" formatCode="0.00">
                  <c:v>2.5</c:v>
                </c:pt>
                <c:pt idx="4" formatCode="0.00">
                  <c:v>2.4037500000000001</c:v>
                </c:pt>
                <c:pt idx="5" formatCode="0.00">
                  <c:v>2.3060924369747902</c:v>
                </c:pt>
                <c:pt idx="6" formatCode="0.00">
                  <c:v>2.2464285714285714</c:v>
                </c:pt>
                <c:pt idx="7" formatCode="0.00">
                  <c:v>2.2004662004662001</c:v>
                </c:pt>
                <c:pt idx="8" formatCode="0.00">
                  <c:v>1.9754629629629628</c:v>
                </c:pt>
                <c:pt idx="9" formatCode="0.00">
                  <c:v>1.9466836734693875</c:v>
                </c:pt>
                <c:pt idx="10" formatCode="0.00">
                  <c:v>1.9092261904761905</c:v>
                </c:pt>
                <c:pt idx="11" formatCode="0.00">
                  <c:v>1.9005952380952382</c:v>
                </c:pt>
                <c:pt idx="12" formatCode="0.00">
                  <c:v>1.85990293040293</c:v>
                </c:pt>
                <c:pt idx="13" formatCode="0.00">
                  <c:v>1.8449900793650791</c:v>
                </c:pt>
                <c:pt idx="14" formatCode="0.00">
                  <c:v>1.7683333333333333</c:v>
                </c:pt>
                <c:pt idx="15" formatCode="0.00">
                  <c:v>1.7642857142857142</c:v>
                </c:pt>
                <c:pt idx="16" formatCode="0.00">
                  <c:v>1.763425925925926</c:v>
                </c:pt>
                <c:pt idx="17" formatCode="0.00">
                  <c:v>1.5533333333333335</c:v>
                </c:pt>
                <c:pt idx="18" formatCode="0.00">
                  <c:v>1.4583333333333333</c:v>
                </c:pt>
                <c:pt idx="19" formatCode="0.00">
                  <c:v>0.97499999999999998</c:v>
                </c:pt>
                <c:pt idx="20" formatCode="0.00">
                  <c:v>0.16666666666666669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3C-4CA4-B92D-B6EC78A1F8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49076089449392413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DE-46F5-BF49-AB55619FC86C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Лист1!$B$1:$I$1</c:f>
              <c:strCache>
                <c:ptCount val="8"/>
                <c:pt idx="0">
                  <c:v>2. Комунікація з науковим керівником (узагальнена оцінка)</c:v>
                </c:pt>
                <c:pt idx="1">
                  <c:v>2.1. Затверджена тема дис. роботи відповідає моїм наук. інтересам</c:v>
                </c:pt>
                <c:pt idx="2">
                  <c:v>2.2. Сфера наукових інтересів мого наук. кер. відповідає темі дис. проєкту</c:v>
                </c:pt>
                <c:pt idx="3">
                  <c:v>2.3. Мій наук. кер. достатньо компетентний для того, щоб керувати моїм дис. проєктом</c:v>
                </c:pt>
                <c:pt idx="4">
                  <c:v>2.4. Мій наук. кер. регулярно спілкується зі мною за темою дис. проєкту</c:v>
                </c:pt>
                <c:pt idx="5">
                  <c:v>2.5. Я завжди можу розраховувати на оперативну підтримку наук. кер., якщо виникають якісь запитання щодо дис. проєкту</c:v>
                </c:pt>
                <c:pt idx="6">
                  <c:v>2.6. Якщо потребую дод. фах. консульт. за темою дис. проєкту, то мій наук. кер. сприяє у залученні зовніш. консульт-ів</c:v>
                </c:pt>
                <c:pt idx="7">
                  <c:v>2.7. Мій наук. кер. ставиться до мене з повагою</c:v>
                </c:pt>
              </c:strCache>
            </c:strRef>
          </c:cat>
          <c:val>
            <c:numRef>
              <c:f>Лист1!$B$2:$I$2</c:f>
              <c:numCache>
                <c:formatCode>0.00</c:formatCode>
                <c:ptCount val="8"/>
                <c:pt idx="0">
                  <c:v>2.5274674115456235</c:v>
                </c:pt>
                <c:pt idx="1">
                  <c:v>2.6235955056179767</c:v>
                </c:pt>
                <c:pt idx="2">
                  <c:v>2.3522727272727288</c:v>
                </c:pt>
                <c:pt idx="3">
                  <c:v>2.689265536723163</c:v>
                </c:pt>
                <c:pt idx="4">
                  <c:v>2.4101123595505611</c:v>
                </c:pt>
                <c:pt idx="5">
                  <c:v>2.5730337078651679</c:v>
                </c:pt>
                <c:pt idx="6">
                  <c:v>2.333333333333333</c:v>
                </c:pt>
                <c:pt idx="7">
                  <c:v>2.7627118644067798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DE-46F5-BF49-AB55619FC8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ax val="3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uk-UA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620998122219836"/>
          <c:y val="9.3820709259725119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2. Комунікація з науковим керівником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C77-4755-91BE-87169D7C333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Фізичний факультет</c:v>
                </c:pt>
                <c:pt idx="3">
                  <c:v>Механіко-математичний факультет</c:v>
                </c:pt>
                <c:pt idx="4">
                  <c:v>ННІ філології</c:v>
                </c:pt>
                <c:pt idx="5">
                  <c:v>Економічний факультет</c:v>
                </c:pt>
                <c:pt idx="6">
                  <c:v>Хімічний ф-тфакультет</c:v>
                </c:pt>
                <c:pt idx="7">
                  <c:v>Географічний факультет</c:v>
                </c:pt>
                <c:pt idx="8">
                  <c:v>ННІ міжнародних відносин</c:v>
                </c:pt>
                <c:pt idx="9">
                  <c:v>ННІ журналістики</c:v>
                </c:pt>
                <c:pt idx="10">
                  <c:v>Факультет інформаційних технологій</c:v>
                </c:pt>
                <c:pt idx="11">
                  <c:v>Філософський факультет</c:v>
                </c:pt>
                <c:pt idx="12">
                  <c:v>Факультет комп'ютерних наук та кібернетики</c:v>
                </c:pt>
                <c:pt idx="13">
                  <c:v>ФРЕКС</c:v>
                </c:pt>
                <c:pt idx="14">
                  <c:v>ННІ права</c:v>
                </c:pt>
                <c:pt idx="15">
                  <c:v>ННЦ «Інститут біології та медицини»</c:v>
                </c:pt>
                <c:pt idx="16">
                  <c:v>ННІ високих технологій</c:v>
                </c:pt>
                <c:pt idx="17">
                  <c:v>Історичний факультет</c:v>
                </c:pt>
                <c:pt idx="18">
                  <c:v>Факультет психології</c:v>
                </c:pt>
                <c:pt idx="19">
                  <c:v>Військовий інститут</c:v>
                </c:pt>
                <c:pt idx="20">
                  <c:v>ННІ «Інститут геології»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2.5274674115456235</c:v>
                </c:pt>
                <c:pt idx="2" formatCode="0.00">
                  <c:v>3</c:v>
                </c:pt>
                <c:pt idx="3" formatCode="0.00">
                  <c:v>2.9761904761904763</c:v>
                </c:pt>
                <c:pt idx="4" formatCode="0.00">
                  <c:v>2.8791208791208787</c:v>
                </c:pt>
                <c:pt idx="5" formatCode="0.00">
                  <c:v>2.8739495798319332</c:v>
                </c:pt>
                <c:pt idx="6" formatCode="0.00">
                  <c:v>2.7738095238095237</c:v>
                </c:pt>
                <c:pt idx="7" formatCode="0.00">
                  <c:v>2.6952380952380954</c:v>
                </c:pt>
                <c:pt idx="8" formatCode="0.00">
                  <c:v>2.6904761904761907</c:v>
                </c:pt>
                <c:pt idx="9" formatCode="0.00">
                  <c:v>2.6285714285714286</c:v>
                </c:pt>
                <c:pt idx="10" formatCode="0.00">
                  <c:v>2.6190476190476195</c:v>
                </c:pt>
                <c:pt idx="11" formatCode="0.00">
                  <c:v>2.5730158730158723</c:v>
                </c:pt>
                <c:pt idx="12" formatCode="0.00">
                  <c:v>2.4795918367346941</c:v>
                </c:pt>
                <c:pt idx="13" formatCode="0.00">
                  <c:v>2.4428571428571431</c:v>
                </c:pt>
                <c:pt idx="14" formatCode="0.00">
                  <c:v>2.3533333333333331</c:v>
                </c:pt>
                <c:pt idx="15" formatCode="0.00">
                  <c:v>2.2857142857142856</c:v>
                </c:pt>
                <c:pt idx="16" formatCode="0.00">
                  <c:v>2.2346938775510203</c:v>
                </c:pt>
                <c:pt idx="17" formatCode="0.00">
                  <c:v>2.0765306122448979</c:v>
                </c:pt>
                <c:pt idx="18" formatCode="0.00">
                  <c:v>1.8571428571428572</c:v>
                </c:pt>
                <c:pt idx="19" formatCode="0.00">
                  <c:v>1.7142857142857142</c:v>
                </c:pt>
                <c:pt idx="20" formatCode="0.00">
                  <c:v>1.142857142857143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77-4755-91BE-87169D7C3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ax val="3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78-4362-AA5A-D632B67D1B30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Лист1!$B$1:$G$1</c:f>
              <c:strCache>
                <c:ptCount val="6"/>
                <c:pt idx="0">
                  <c:v>3. Матеріальне забезпечення навчального процесу (узагальнена оцінка)</c:v>
                </c:pt>
                <c:pt idx="1">
                  <c:v>3.1. На ф-ті/ в ін-ті є достатньо сучасного обладнання для забезпечення навчального процесу</c:v>
                </c:pt>
                <c:pt idx="2">
                  <c:v>3.2. На ф-ті/ в ін-ті є достатньо сучасного обладнання для забезпечення наук. діяльності за темою дис. роботи</c:v>
                </c:pt>
                <c:pt idx="3">
                  <c:v>3.3. Будівлі та приміщення ф-ту/ін-ту знаходяться у належному стані</c:v>
                </c:pt>
                <c:pt idx="4">
                  <c:v>3.4. Навчальні матеріали є доступними у достатній кількості та актуальними</c:v>
                </c:pt>
                <c:pt idx="5">
                  <c:v>3.5. На ф-ті/в ін-ті є доступ до сучасної наук. літератури</c:v>
                </c:pt>
              </c:strCache>
            </c:strRef>
          </c:cat>
          <c:val>
            <c:numRef>
              <c:f>Лист1!$B$2:$G$2</c:f>
              <c:numCache>
                <c:formatCode>0.00</c:formatCode>
                <c:ptCount val="6"/>
                <c:pt idx="0">
                  <c:v>1.4226256983240224</c:v>
                </c:pt>
                <c:pt idx="1">
                  <c:v>1.3915662650602396</c:v>
                </c:pt>
                <c:pt idx="2">
                  <c:v>1.1118012422360242</c:v>
                </c:pt>
                <c:pt idx="3">
                  <c:v>1.8238636363636369</c:v>
                </c:pt>
                <c:pt idx="4">
                  <c:v>1.4970760233918128</c:v>
                </c:pt>
                <c:pt idx="5">
                  <c:v>1.3151515151515156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78-4362-AA5A-D632B67D1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uk-UA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3. Матеріальне забезпечення навчального процесу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D7-4ADC-9F76-711BE31B171C}"/>
              </c:ext>
            </c:extLst>
          </c:dPt>
          <c:dPt>
            <c:idx val="2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A63-40A3-BF6E-842F0E6051E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ННІ філології</c:v>
                </c:pt>
                <c:pt idx="4">
                  <c:v>Географічний факультет</c:v>
                </c:pt>
                <c:pt idx="5">
                  <c:v>Факультет інформаційних технологій</c:v>
                </c:pt>
                <c:pt idx="6">
                  <c:v>Економічний факультет</c:v>
                </c:pt>
                <c:pt idx="7">
                  <c:v>Історичний факультет</c:v>
                </c:pt>
                <c:pt idx="8">
                  <c:v>ННІ «Інститут геології»</c:v>
                </c:pt>
                <c:pt idx="9">
                  <c:v>Філософський факультет</c:v>
                </c:pt>
                <c:pt idx="10">
                  <c:v>ННІ права</c:v>
                </c:pt>
                <c:pt idx="11">
                  <c:v>Факультет психології</c:v>
                </c:pt>
                <c:pt idx="12">
                  <c:v>ФРЕКС</c:v>
                </c:pt>
                <c:pt idx="13">
                  <c:v>ННІ журналістики</c:v>
                </c:pt>
                <c:pt idx="14">
                  <c:v>ННІ міжнародних відносин</c:v>
                </c:pt>
                <c:pt idx="15">
                  <c:v>Факультет комп'ютерних наук та кібернетики</c:v>
                </c:pt>
                <c:pt idx="16">
                  <c:v>Хімічний факультет</c:v>
                </c:pt>
                <c:pt idx="17">
                  <c:v>ННІ високих технологій</c:v>
                </c:pt>
                <c:pt idx="18">
                  <c:v>ННЦ «Інститут біології та медицини»</c:v>
                </c:pt>
                <c:pt idx="19">
                  <c:v>Військовий інститут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1.4226256983240224</c:v>
                </c:pt>
                <c:pt idx="2" formatCode="0.00">
                  <c:v>2.5142857142857147</c:v>
                </c:pt>
                <c:pt idx="3" formatCode="0.00">
                  <c:v>2.0243589743589743</c:v>
                </c:pt>
                <c:pt idx="4" formatCode="0.00">
                  <c:v>1.96</c:v>
                </c:pt>
                <c:pt idx="5" formatCode="0.00">
                  <c:v>1.9395833333333332</c:v>
                </c:pt>
                <c:pt idx="6" formatCode="0.00">
                  <c:v>1.8941176470588232</c:v>
                </c:pt>
                <c:pt idx="7" formatCode="0.00">
                  <c:v>1.8285714285714285</c:v>
                </c:pt>
                <c:pt idx="8" formatCode="0.00">
                  <c:v>1.7333333333333334</c:v>
                </c:pt>
                <c:pt idx="9" formatCode="0.00">
                  <c:v>1.7155555555555555</c:v>
                </c:pt>
                <c:pt idx="10" formatCode="0.00">
                  <c:v>1.3633333333333331</c:v>
                </c:pt>
                <c:pt idx="11" formatCode="0.00">
                  <c:v>1.2222222222222223</c:v>
                </c:pt>
                <c:pt idx="12" formatCode="0.00">
                  <c:v>1.2</c:v>
                </c:pt>
                <c:pt idx="13" formatCode="0.00">
                  <c:v>1.1200000000000001</c:v>
                </c:pt>
                <c:pt idx="14" formatCode="0.00">
                  <c:v>1.0777777777777779</c:v>
                </c:pt>
                <c:pt idx="15" formatCode="0.00">
                  <c:v>1.0142857142857142</c:v>
                </c:pt>
                <c:pt idx="16" formatCode="0.00">
                  <c:v>0.87083333333333335</c:v>
                </c:pt>
                <c:pt idx="17" formatCode="0.00">
                  <c:v>0.57857142857142851</c:v>
                </c:pt>
                <c:pt idx="18" formatCode="0.00">
                  <c:v>0.5</c:v>
                </c:pt>
                <c:pt idx="19" formatCode="0.00">
                  <c:v>0.4</c:v>
                </c:pt>
                <c:pt idx="20" formatCode="0.00">
                  <c:v>-1.2666666666666666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D7-4ADC-9F76-711BE31B1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95-4E85-BA37-ECE81CB8BE0F}"/>
              </c:ext>
            </c:extLst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A13-4A46-9E0C-93DA61AAEC0C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Лист1!$B$1:$I$1</c:f>
              <c:strCache>
                <c:ptCount val="8"/>
                <c:pt idx="0">
                  <c:v>4. Академічна мобільність та апробація результатів (узагальнена оцінка)</c:v>
                </c:pt>
                <c:pt idx="1">
                  <c:v>4.1. Навчання на ОНП дає можливість проходити наук. стажування в Україні за темою дис. проєкту</c:v>
                </c:pt>
                <c:pt idx="2">
                  <c:v>4.2. Навчання на ОНП дає можливість проходити наук. стажування за кордоном за темою дис. проєкту</c:v>
                </c:pt>
                <c:pt idx="3">
                  <c:v>4.3. Навчання на ОНП дає мені можливість долучатись до наук. проєктів в Україні</c:v>
                </c:pt>
                <c:pt idx="4">
                  <c:v>4.4. Навчання на ОНП дає мені можливість долучатись до міжнародн. наук. проєктів</c:v>
                </c:pt>
                <c:pt idx="5">
                  <c:v>4.5. Протягом навчання на ОНП мене залучають до участі у конф. та круглих столах</c:v>
                </c:pt>
                <c:pt idx="6">
                  <c:v>4.6. Протягом навчання на ОНП я брав/ла участь у програмі академ. мобільності</c:v>
                </c:pt>
                <c:pt idx="7">
                  <c:v>4.7. Протягом навчання на ОНП я отрим. вичерп. консульт. відп. підр. ун-ту щодо реалізації права на академ. мобільність</c:v>
                </c:pt>
              </c:strCache>
            </c:strRef>
          </c:cat>
          <c:val>
            <c:numRef>
              <c:f>Лист1!$B$2:$I$2</c:f>
              <c:numCache>
                <c:formatCode>0.00</c:formatCode>
                <c:ptCount val="8"/>
                <c:pt idx="0">
                  <c:v>0.93386837881219942</c:v>
                </c:pt>
                <c:pt idx="1">
                  <c:v>1.1333333333333335</c:v>
                </c:pt>
                <c:pt idx="2">
                  <c:v>0.45985401459854036</c:v>
                </c:pt>
                <c:pt idx="3">
                  <c:v>1.74025974025974</c:v>
                </c:pt>
                <c:pt idx="4">
                  <c:v>1.4313725490196076</c:v>
                </c:pt>
                <c:pt idx="5">
                  <c:v>2.2701149425287368</c:v>
                </c:pt>
                <c:pt idx="6">
                  <c:v>-1.5649350649350655</c:v>
                </c:pt>
                <c:pt idx="7">
                  <c:v>0.96026490066225223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95-4E85-BA37-ECE81CB8BE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16. Академічна мобільність та апробація результатів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C07-4FBB-80BC-2C109638B768}"/>
              </c:ext>
            </c:extLst>
          </c:dPt>
          <c:dPt>
            <c:idx val="16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FDD-42BD-ADE2-D2E2CF613BFB}"/>
              </c:ext>
            </c:extLst>
          </c:dPt>
          <c:dPt>
            <c:idx val="17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FDD-42BD-ADE2-D2E2CF613BFB}"/>
              </c:ext>
            </c:extLst>
          </c:dPt>
          <c:dPt>
            <c:idx val="18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FDD-42BD-ADE2-D2E2CF613BFB}"/>
              </c:ext>
            </c:extLst>
          </c:dPt>
          <c:dPt>
            <c:idx val="1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FDD-42BD-ADE2-D2E2CF613BFB}"/>
              </c:ext>
            </c:extLst>
          </c:dPt>
          <c:dPt>
            <c:idx val="2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FDD-42BD-ADE2-D2E2CF613B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Економічний факультет</c:v>
                </c:pt>
                <c:pt idx="4">
                  <c:v>Історичний факультет</c:v>
                </c:pt>
                <c:pt idx="5">
                  <c:v>ННІ філології</c:v>
                </c:pt>
                <c:pt idx="6">
                  <c:v>Філософський факультет</c:v>
                </c:pt>
                <c:pt idx="7">
                  <c:v>Хімічний факультет</c:v>
                </c:pt>
                <c:pt idx="8">
                  <c:v>ННІ міжнародних відносин</c:v>
                </c:pt>
                <c:pt idx="9">
                  <c:v>Військовий інститут</c:v>
                </c:pt>
                <c:pt idx="10">
                  <c:v>Факультет психології</c:v>
                </c:pt>
                <c:pt idx="11">
                  <c:v>ННІ права</c:v>
                </c:pt>
                <c:pt idx="12">
                  <c:v>Факультет інформаційних технол. (ФІТ)</c:v>
                </c:pt>
                <c:pt idx="13">
                  <c:v>Факультет радіофіз., електрон. та комп’ют. с-м (ФРЕКС)</c:v>
                </c:pt>
                <c:pt idx="14">
                  <c:v>Географічний факультет</c:v>
                </c:pt>
                <c:pt idx="15">
                  <c:v>Факультет комп'ютерних наук та кібернетики</c:v>
                </c:pt>
                <c:pt idx="16">
                  <c:v>ННІ журналістики</c:v>
                </c:pt>
                <c:pt idx="17">
                  <c:v>ННІ високих технологій</c:v>
                </c:pt>
                <c:pt idx="18">
                  <c:v>ННІ «Ін-т геології»</c:v>
                </c:pt>
                <c:pt idx="19">
                  <c:v>Фізичний факультет</c:v>
                </c:pt>
                <c:pt idx="20">
                  <c:v>ННЦ «Ін-т біології та медицини»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0.93386837881219942</c:v>
                </c:pt>
                <c:pt idx="2" formatCode="0.00">
                  <c:v>2.5170068027210881</c:v>
                </c:pt>
                <c:pt idx="3" formatCode="0.00">
                  <c:v>1.5420168067226889</c:v>
                </c:pt>
                <c:pt idx="4" formatCode="0.00">
                  <c:v>1.510204081632653</c:v>
                </c:pt>
                <c:pt idx="5" formatCode="0.00">
                  <c:v>1.2858974358974358</c:v>
                </c:pt>
                <c:pt idx="6" formatCode="0.00">
                  <c:v>1.2185374149659862</c:v>
                </c:pt>
                <c:pt idx="7" formatCode="0.00">
                  <c:v>1.1607142857142858</c:v>
                </c:pt>
                <c:pt idx="8" formatCode="0.00">
                  <c:v>1.1031746031746033</c:v>
                </c:pt>
                <c:pt idx="9" formatCode="0.00">
                  <c:v>1</c:v>
                </c:pt>
                <c:pt idx="10" formatCode="0.00">
                  <c:v>0.99126984126984108</c:v>
                </c:pt>
                <c:pt idx="11" formatCode="0.00">
                  <c:v>0.9319047619047619</c:v>
                </c:pt>
                <c:pt idx="12" formatCode="0.00">
                  <c:v>0.92559523809523803</c:v>
                </c:pt>
                <c:pt idx="13" formatCode="0.00">
                  <c:v>0.81952380952380932</c:v>
                </c:pt>
                <c:pt idx="14" formatCode="0.00">
                  <c:v>0.79761904761904767</c:v>
                </c:pt>
                <c:pt idx="15" formatCode="0.00">
                  <c:v>0.5653061224489796</c:v>
                </c:pt>
                <c:pt idx="16" formatCode="0.00">
                  <c:v>-0.17619047619047618</c:v>
                </c:pt>
                <c:pt idx="17" formatCode="0.00">
                  <c:v>-0.18503401360544214</c:v>
                </c:pt>
                <c:pt idx="18" formatCode="0.00">
                  <c:v>-0.28571428571428581</c:v>
                </c:pt>
                <c:pt idx="19" formatCode="0.00">
                  <c:v>-0.5714285714285714</c:v>
                </c:pt>
                <c:pt idx="20" formatCode="0.00">
                  <c:v>-1.4428571428571428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07-4FBB-80BC-2C109638B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88-40AD-A647-3DE7DB8B2D18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Лист1!$B$1:$G$1</c:f>
              <c:strCache>
                <c:ptCount val="6"/>
                <c:pt idx="0">
                  <c:v>5. Академічна доброчесність (узагальнена оцінка)</c:v>
                </c:pt>
                <c:pt idx="1">
                  <c:v>5.1. Я поінформований/а про принципи академ. доброчесності та наслідки її порушення</c:v>
                </c:pt>
                <c:pt idx="2">
                  <c:v>5.2. Я особисто дотримуюсь кодексу академ. доброчесності</c:v>
                </c:pt>
                <c:pt idx="3">
                  <c:v>5.3. Мій наук. кер. дотримується кодексу академ. доброчесності</c:v>
                </c:pt>
                <c:pt idx="4">
                  <c:v>5.4. ЗВО проводить заходи щодо роз’яснення принципів академ. доброчесності</c:v>
                </c:pt>
                <c:pt idx="5">
                  <c:v>5.5. ЗВО забезпечує дотримання академ. доброчесності у моїй проф. діяльності</c:v>
                </c:pt>
              </c:strCache>
            </c:strRef>
          </c:cat>
          <c:val>
            <c:numRef>
              <c:f>Лист1!$B$2:$G$2</c:f>
              <c:numCache>
                <c:formatCode>0.00</c:formatCode>
                <c:ptCount val="6"/>
                <c:pt idx="0">
                  <c:v>2.6133147113594046</c:v>
                </c:pt>
                <c:pt idx="1">
                  <c:v>2.7102272727272734</c:v>
                </c:pt>
                <c:pt idx="2">
                  <c:v>2.8100558659217869</c:v>
                </c:pt>
                <c:pt idx="3">
                  <c:v>2.8352272727272729</c:v>
                </c:pt>
                <c:pt idx="4">
                  <c:v>2.2035928143712562</c:v>
                </c:pt>
                <c:pt idx="5">
                  <c:v>2.5260115606936422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88-40AD-A647-3DE7DB8B2D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17. Академічна доброчесність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4C-4491-88E5-F8647C580A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Економічний факультет</c:v>
                </c:pt>
                <c:pt idx="4">
                  <c:v>ННІ філології</c:v>
                </c:pt>
                <c:pt idx="5">
                  <c:v>Географічний факультет</c:v>
                </c:pt>
                <c:pt idx="6">
                  <c:v>Філософський факультет</c:v>
                </c:pt>
                <c:pt idx="7">
                  <c:v>Факультет інформаційних технологій</c:v>
                </c:pt>
                <c:pt idx="8">
                  <c:v>ННІ журналістики</c:v>
                </c:pt>
                <c:pt idx="9">
                  <c:v>Історичний факультет</c:v>
                </c:pt>
                <c:pt idx="10">
                  <c:v>Факультет психології</c:v>
                </c:pt>
                <c:pt idx="11">
                  <c:v>Хімічний факультет</c:v>
                </c:pt>
                <c:pt idx="12">
                  <c:v>ННІ міжнародних відносин</c:v>
                </c:pt>
                <c:pt idx="13">
                  <c:v>Факультет комп'ютерних наук та кібернетики</c:v>
                </c:pt>
                <c:pt idx="14">
                  <c:v>Військовий інститут</c:v>
                </c:pt>
                <c:pt idx="15">
                  <c:v>ННІ «Інститут геології»</c:v>
                </c:pt>
                <c:pt idx="16">
                  <c:v>ФРЕКС</c:v>
                </c:pt>
                <c:pt idx="17">
                  <c:v>ННІ права</c:v>
                </c:pt>
                <c:pt idx="18">
                  <c:v>ННІ високих технологій</c:v>
                </c:pt>
                <c:pt idx="19">
                  <c:v>Фізичний факультет</c:v>
                </c:pt>
                <c:pt idx="20">
                  <c:v>ННЦ «Інститут біології та медицини»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2.6133147113594046</c:v>
                </c:pt>
                <c:pt idx="2" formatCode="0.00">
                  <c:v>2.8857142857142857</c:v>
                </c:pt>
                <c:pt idx="3" formatCode="0.00">
                  <c:v>2.8588235294117643</c:v>
                </c:pt>
                <c:pt idx="4" formatCode="0.00">
                  <c:v>2.8153846153846156</c:v>
                </c:pt>
                <c:pt idx="5" formatCode="0.00">
                  <c:v>2.8</c:v>
                </c:pt>
                <c:pt idx="6" formatCode="0.00">
                  <c:v>2.73</c:v>
                </c:pt>
                <c:pt idx="7" formatCode="0.00">
                  <c:v>2.7249999999999996</c:v>
                </c:pt>
                <c:pt idx="8" formatCode="0.00">
                  <c:v>2.7199999999999998</c:v>
                </c:pt>
                <c:pt idx="9" formatCode="0.00">
                  <c:v>2.7142857142857144</c:v>
                </c:pt>
                <c:pt idx="10" formatCode="0.00">
                  <c:v>2.7111111111111108</c:v>
                </c:pt>
                <c:pt idx="11" formatCode="0.00">
                  <c:v>2.6666666666666665</c:v>
                </c:pt>
                <c:pt idx="12" formatCode="0.00">
                  <c:v>2.6555555555555554</c:v>
                </c:pt>
                <c:pt idx="13" formatCode="0.00">
                  <c:v>2.6428571428571428</c:v>
                </c:pt>
                <c:pt idx="14" formatCode="0.00">
                  <c:v>2.4</c:v>
                </c:pt>
                <c:pt idx="15" formatCode="0.00">
                  <c:v>2.4</c:v>
                </c:pt>
                <c:pt idx="16" formatCode="0.00">
                  <c:v>2.395</c:v>
                </c:pt>
                <c:pt idx="17" formatCode="0.00">
                  <c:v>2.3833333333333329</c:v>
                </c:pt>
                <c:pt idx="18" formatCode="0.00">
                  <c:v>2.2142857142857144</c:v>
                </c:pt>
                <c:pt idx="19" formatCode="0.00">
                  <c:v>1.9333333333333333</c:v>
                </c:pt>
                <c:pt idx="20" formatCode="0.00">
                  <c:v>1.825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4C-4491-88E5-F8647C580A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ax val="3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17. Академічна доброчесність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86-4DDF-9A9C-6C3CF72993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Економічний факультет</c:v>
                </c:pt>
                <c:pt idx="4">
                  <c:v>ННІ філології</c:v>
                </c:pt>
                <c:pt idx="5">
                  <c:v>Географічний факультет</c:v>
                </c:pt>
                <c:pt idx="6">
                  <c:v>Філософський факультет</c:v>
                </c:pt>
                <c:pt idx="7">
                  <c:v>Факультет інформаційних технологій</c:v>
                </c:pt>
                <c:pt idx="8">
                  <c:v>ННІ журналістики</c:v>
                </c:pt>
                <c:pt idx="9">
                  <c:v>Історичний факультет</c:v>
                </c:pt>
                <c:pt idx="10">
                  <c:v>Факультет психології</c:v>
                </c:pt>
                <c:pt idx="11">
                  <c:v>Хімічний факультет</c:v>
                </c:pt>
                <c:pt idx="12">
                  <c:v>ННІ міжнародних відносин</c:v>
                </c:pt>
                <c:pt idx="13">
                  <c:v>Факультет комп'ютерних наук та кібернетики</c:v>
                </c:pt>
                <c:pt idx="14">
                  <c:v>Військовий інститут</c:v>
                </c:pt>
                <c:pt idx="15">
                  <c:v>ННІ «Ін-т геології»</c:v>
                </c:pt>
                <c:pt idx="16">
                  <c:v>ФРЕКС</c:v>
                </c:pt>
                <c:pt idx="17">
                  <c:v>ННІ права</c:v>
                </c:pt>
                <c:pt idx="18">
                  <c:v>ННІ високих технологій</c:v>
                </c:pt>
                <c:pt idx="19">
                  <c:v>Фізичний факультет</c:v>
                </c:pt>
                <c:pt idx="20">
                  <c:v>ННЦ «Інститут біології та медицини»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2.6133147113594046</c:v>
                </c:pt>
                <c:pt idx="2" formatCode="0.00">
                  <c:v>2.8857142857142857</c:v>
                </c:pt>
                <c:pt idx="3" formatCode="0.00">
                  <c:v>2.8588235294117643</c:v>
                </c:pt>
                <c:pt idx="4" formatCode="0.00">
                  <c:v>2.8153846153846156</c:v>
                </c:pt>
                <c:pt idx="5" formatCode="0.00">
                  <c:v>2.8</c:v>
                </c:pt>
                <c:pt idx="6" formatCode="0.00">
                  <c:v>2.73</c:v>
                </c:pt>
                <c:pt idx="7" formatCode="0.00">
                  <c:v>2.7249999999999996</c:v>
                </c:pt>
                <c:pt idx="8" formatCode="0.00">
                  <c:v>2.7199999999999998</c:v>
                </c:pt>
                <c:pt idx="9" formatCode="0.00">
                  <c:v>2.7142857142857144</c:v>
                </c:pt>
                <c:pt idx="10" formatCode="0.00">
                  <c:v>2.7111111111111108</c:v>
                </c:pt>
                <c:pt idx="11" formatCode="0.00">
                  <c:v>2.6666666666666665</c:v>
                </c:pt>
                <c:pt idx="12" formatCode="0.00">
                  <c:v>2.6555555555555554</c:v>
                </c:pt>
                <c:pt idx="13" formatCode="0.00">
                  <c:v>2.6428571428571428</c:v>
                </c:pt>
                <c:pt idx="14" formatCode="0.00">
                  <c:v>2.4</c:v>
                </c:pt>
                <c:pt idx="15" formatCode="0.00">
                  <c:v>2.4</c:v>
                </c:pt>
                <c:pt idx="16" formatCode="0.00">
                  <c:v>2.395</c:v>
                </c:pt>
                <c:pt idx="17" formatCode="0.00">
                  <c:v>2.3833333333333329</c:v>
                </c:pt>
                <c:pt idx="18" formatCode="0.00">
                  <c:v>2.2142857142857144</c:v>
                </c:pt>
                <c:pt idx="19" formatCode="0.00">
                  <c:v>1.9333333333333333</c:v>
                </c:pt>
                <c:pt idx="20" formatCode="0.00">
                  <c:v>1.825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86-4DDF-9A9C-6C3CF72993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B6-4D2E-B914-8DDCE1D4432D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Лист1!$B$1:$D$1</c:f>
              <c:strCache>
                <c:ptCount val="3"/>
                <c:pt idx="0">
                  <c:v>6. Конфліктні ситуації та їх вирішення (узагальнена оцінка)</c:v>
                </c:pt>
                <c:pt idx="1">
                  <c:v>6.1. На ф-ті / в ін-ті панує атмосфера довіри та взаємоповаги між учасниками освітнього процесу</c:v>
                </c:pt>
                <c:pt idx="2">
                  <c:v>6.2. Я поінформований про процедуру врегулювання конфліктних ситуацій у межах ун-ту</c:v>
                </c:pt>
              </c:strCache>
            </c:strRef>
          </c:cat>
          <c:val>
            <c:numRef>
              <c:f>Лист1!$B$2:$D$2</c:f>
              <c:numCache>
                <c:formatCode>0.00</c:formatCode>
                <c:ptCount val="3"/>
                <c:pt idx="0">
                  <c:v>1.7796610169491527</c:v>
                </c:pt>
                <c:pt idx="1">
                  <c:v>2.1734104046242768</c:v>
                </c:pt>
                <c:pt idx="2">
                  <c:v>1.3558282208588961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B6-4D2E-B914-8DDCE1D443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6. Конфліктні ситуації та їх вирішення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DE9-4F71-9DF4-4F15C38EF91F}"/>
              </c:ext>
            </c:extLst>
          </c:dPt>
          <c:dPt>
            <c:idx val="2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DE9-4F71-9DF4-4F15C38EF91F}"/>
              </c:ext>
            </c:extLst>
          </c:dPt>
          <c:dLbls>
            <c:dLbl>
              <c:idx val="2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FF0000"/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uk-UA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8DE9-4F71-9DF4-4F15C38EF9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Географічний факультет</c:v>
                </c:pt>
                <c:pt idx="3">
                  <c:v>Історичний факультет</c:v>
                </c:pt>
                <c:pt idx="4">
                  <c:v>Факультет інформаційних технологій</c:v>
                </c:pt>
                <c:pt idx="5">
                  <c:v>ННІ філології</c:v>
                </c:pt>
                <c:pt idx="6">
                  <c:v>ФРЕКС</c:v>
                </c:pt>
                <c:pt idx="7">
                  <c:v>Економічний факультет</c:v>
                </c:pt>
                <c:pt idx="8">
                  <c:v>Філософський факультет</c:v>
                </c:pt>
                <c:pt idx="9">
                  <c:v>Механіко-математичний факультет</c:v>
                </c:pt>
                <c:pt idx="10">
                  <c:v>Хімічний факультет</c:v>
                </c:pt>
                <c:pt idx="11">
                  <c:v>Факультет комп'ютерних наук та кібернетики</c:v>
                </c:pt>
                <c:pt idx="12">
                  <c:v>ННІ міжнародних відносин</c:v>
                </c:pt>
                <c:pt idx="13">
                  <c:v>ННІ високих технологій</c:v>
                </c:pt>
                <c:pt idx="14">
                  <c:v>Факультет психології</c:v>
                </c:pt>
                <c:pt idx="15">
                  <c:v>ННІ права</c:v>
                </c:pt>
                <c:pt idx="16">
                  <c:v>ННЦ «Інститут біології та медицини»</c:v>
                </c:pt>
                <c:pt idx="17">
                  <c:v>Військовий інститут</c:v>
                </c:pt>
                <c:pt idx="18">
                  <c:v>ННІ «Інститут геології»</c:v>
                </c:pt>
                <c:pt idx="19">
                  <c:v>ННІ журналістики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1.78</c:v>
                </c:pt>
                <c:pt idx="2" formatCode="0.00">
                  <c:v>2.5</c:v>
                </c:pt>
                <c:pt idx="3" formatCode="0.00">
                  <c:v>2.36</c:v>
                </c:pt>
                <c:pt idx="4" formatCode="0.00">
                  <c:v>2.19</c:v>
                </c:pt>
                <c:pt idx="5" formatCode="0.00">
                  <c:v>2.12</c:v>
                </c:pt>
                <c:pt idx="6" formatCode="0.00">
                  <c:v>2.0499999999999998</c:v>
                </c:pt>
                <c:pt idx="7" formatCode="0.00">
                  <c:v>2.0299999999999998</c:v>
                </c:pt>
                <c:pt idx="8" formatCode="0.00">
                  <c:v>1.97</c:v>
                </c:pt>
                <c:pt idx="9" formatCode="0.00">
                  <c:v>1.93</c:v>
                </c:pt>
                <c:pt idx="10" formatCode="0.00">
                  <c:v>1.92</c:v>
                </c:pt>
                <c:pt idx="11" formatCode="0.00">
                  <c:v>1.86</c:v>
                </c:pt>
                <c:pt idx="12" formatCode="0.00">
                  <c:v>1.63</c:v>
                </c:pt>
                <c:pt idx="13" formatCode="0.00">
                  <c:v>1.57</c:v>
                </c:pt>
                <c:pt idx="14" formatCode="0.00">
                  <c:v>1.44</c:v>
                </c:pt>
                <c:pt idx="15" formatCode="0.00">
                  <c:v>1.38</c:v>
                </c:pt>
                <c:pt idx="16" formatCode="0.00">
                  <c:v>1.1299999999999999</c:v>
                </c:pt>
                <c:pt idx="17" formatCode="0.00">
                  <c:v>1</c:v>
                </c:pt>
                <c:pt idx="18" formatCode="0.00">
                  <c:v>1</c:v>
                </c:pt>
                <c:pt idx="19" formatCode="0.00">
                  <c:v>0.9</c:v>
                </c:pt>
                <c:pt idx="20" formatCode="0.00">
                  <c:v>-0.17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E9-4F71-9DF4-4F15C38EF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35-4C13-A41D-09BEFFC4234B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Лист1!$B$1:$E$1</c:f>
              <c:strCache>
                <c:ptCount val="4"/>
                <c:pt idx="0">
                  <c:v>7. Залученість до змін освітньої програми (узагальнена оцінка)</c:v>
                </c:pt>
                <c:pt idx="1">
                  <c:v>7.1. Я поінформований про можливість внесення пропозицій до змін ОНП</c:v>
                </c:pt>
                <c:pt idx="2">
                  <c:v>7.2. Я готовий внести пропозиції щодо змін до ОНП</c:v>
                </c:pt>
                <c:pt idx="3">
                  <c:v>7.3. Керівництво дослуховується до пропозиції здобувачів щодо змін у ОНП</c:v>
                </c:pt>
              </c:strCache>
            </c:strRef>
          </c:cat>
          <c:val>
            <c:numRef>
              <c:f>Лист1!$B$2:$E$2</c:f>
              <c:numCache>
                <c:formatCode>0.00</c:formatCode>
                <c:ptCount val="4"/>
                <c:pt idx="0">
                  <c:v>1.1599999999999999</c:v>
                </c:pt>
                <c:pt idx="1">
                  <c:v>1.04</c:v>
                </c:pt>
                <c:pt idx="2">
                  <c:v>0.99</c:v>
                </c:pt>
                <c:pt idx="3">
                  <c:v>1.68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35-4C13-A41D-09BEFFC423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ax val="3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19. Залученість до змін освітньої програми (узагальнена оцінка)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03-467C-A0F2-210CC988111F}"/>
              </c:ext>
            </c:extLst>
          </c:dPt>
          <c:dPt>
            <c:idx val="2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E03-467C-A0F2-210CC98811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Лист1!$A$2:$A$23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Історичний факультет</c:v>
                </c:pt>
                <c:pt idx="4">
                  <c:v>Філософський факультет</c:v>
                </c:pt>
                <c:pt idx="5">
                  <c:v>Економічний факультет</c:v>
                </c:pt>
                <c:pt idx="6">
                  <c:v>ННІ міжнародних відносин</c:v>
                </c:pt>
                <c:pt idx="7">
                  <c:v>Географічний факультет</c:v>
                </c:pt>
                <c:pt idx="8">
                  <c:v>Факультет психології</c:v>
                </c:pt>
                <c:pt idx="9">
                  <c:v>ННІ філології</c:v>
                </c:pt>
                <c:pt idx="10">
                  <c:v>Факультет комп'ютерних наук та кібернетики</c:v>
                </c:pt>
                <c:pt idx="11">
                  <c:v>Факультет інформаційних технологій</c:v>
                </c:pt>
                <c:pt idx="12">
                  <c:v>ФРЕКС</c:v>
                </c:pt>
                <c:pt idx="13">
                  <c:v>ННІ права</c:v>
                </c:pt>
                <c:pt idx="14">
                  <c:v>Хімічний факультет</c:v>
                </c:pt>
                <c:pt idx="15">
                  <c:v>ННІ високих технологій</c:v>
                </c:pt>
                <c:pt idx="16">
                  <c:v>ННЦ «Інститут біології та медицини»</c:v>
                </c:pt>
                <c:pt idx="17">
                  <c:v>Військовий інститут</c:v>
                </c:pt>
                <c:pt idx="18">
                  <c:v>ННІ журналістики</c:v>
                </c:pt>
                <c:pt idx="19">
                  <c:v>ННІ «Інститут геології»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Лист1!$B$2:$B$23</c:f>
              <c:numCache>
                <c:formatCode>General</c:formatCode>
                <c:ptCount val="22"/>
                <c:pt idx="0" formatCode="0.00">
                  <c:v>1.1599999999999999</c:v>
                </c:pt>
                <c:pt idx="2" formatCode="0.00">
                  <c:v>2.29</c:v>
                </c:pt>
                <c:pt idx="3" formatCode="0.00">
                  <c:v>2.0699999999999998</c:v>
                </c:pt>
                <c:pt idx="4" formatCode="0.00">
                  <c:v>1.99</c:v>
                </c:pt>
                <c:pt idx="5" formatCode="0.00">
                  <c:v>1.69</c:v>
                </c:pt>
                <c:pt idx="6" formatCode="0.00">
                  <c:v>1.46</c:v>
                </c:pt>
                <c:pt idx="7" formatCode="0.00">
                  <c:v>1.41</c:v>
                </c:pt>
                <c:pt idx="8" formatCode="0.00">
                  <c:v>1.3</c:v>
                </c:pt>
                <c:pt idx="9" formatCode="0.00">
                  <c:v>1.19</c:v>
                </c:pt>
                <c:pt idx="10" formatCode="0.00">
                  <c:v>1.1299999999999999</c:v>
                </c:pt>
                <c:pt idx="11" formatCode="0.00">
                  <c:v>0.92</c:v>
                </c:pt>
                <c:pt idx="12" formatCode="0.00">
                  <c:v>0.9</c:v>
                </c:pt>
                <c:pt idx="13" formatCode="0.00">
                  <c:v>0.81</c:v>
                </c:pt>
                <c:pt idx="14" formatCode="0.00">
                  <c:v>0.81</c:v>
                </c:pt>
                <c:pt idx="15" formatCode="0.00">
                  <c:v>0.48</c:v>
                </c:pt>
                <c:pt idx="16" formatCode="0.00">
                  <c:v>0.42</c:v>
                </c:pt>
                <c:pt idx="17" formatCode="0.00">
                  <c:v>0.33</c:v>
                </c:pt>
                <c:pt idx="18" formatCode="0.00">
                  <c:v>0.3</c:v>
                </c:pt>
                <c:pt idx="19" formatCode="0.00">
                  <c:v>0.11</c:v>
                </c:pt>
                <c:pt idx="20" formatCode="0.00">
                  <c:v>-1.22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03-467C-A0F2-210CC9881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89993438320211"/>
          <c:y val="6.7105971909002818E-2"/>
          <c:w val="0.5193905812437497"/>
          <c:h val="0.924331383536514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Всі опитані ф-ти/ін-ти КНУ ім. Т. Шевченка загалом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985-41C5-8FEB-D5B772561BDE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Лист1!$B$1:$D$1</c:f>
              <c:strCache>
                <c:ptCount val="3"/>
                <c:pt idx="0">
                  <c:v>8. Наскільки Ви у цілому задоволені навчанням на даній ОПН?</c:v>
                </c:pt>
                <c:pt idx="1">
                  <c:v>9. Наскільки виправдались Ваші очікування щодо навчання на даній ОНП?</c:v>
                </c:pt>
                <c:pt idx="2">
                  <c:v>10. Чи порекомендуєте Ви навчання на цій ОНП або співпрацю у рамках ОНП своїм друзям, знайомим, колегам та ін.?</c:v>
                </c:pt>
              </c:strCache>
            </c:strRef>
          </c:cat>
          <c:val>
            <c:numRef>
              <c:f>Лист1!$B$2:$D$2</c:f>
              <c:numCache>
                <c:formatCode>0.00</c:formatCode>
                <c:ptCount val="3"/>
                <c:pt idx="0">
                  <c:v>1.7</c:v>
                </c:pt>
                <c:pt idx="1">
                  <c:v>1.52</c:v>
                </c:pt>
                <c:pt idx="2">
                  <c:v>1.42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85-41C5-8FEB-D5B772561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  <c:extLst/>
      </c:barChart>
      <c:catAx>
        <c:axId val="117378044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ax val="3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8. Наскільки Ви у цілому задоволені навчанням на даній ОПН?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06B-4B08-B85E-18ED2757824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ННІ філології</c:v>
                </c:pt>
                <c:pt idx="4">
                  <c:v>Географічний факультет</c:v>
                </c:pt>
                <c:pt idx="5">
                  <c:v>Економічний факультет</c:v>
                </c:pt>
                <c:pt idx="6">
                  <c:v>Філософський факультет</c:v>
                </c:pt>
                <c:pt idx="7">
                  <c:v>ННІ права</c:v>
                </c:pt>
                <c:pt idx="8">
                  <c:v>ННІ високих технологій</c:v>
                </c:pt>
                <c:pt idx="9">
                  <c:v>Факультет психології</c:v>
                </c:pt>
                <c:pt idx="10">
                  <c:v>ФРЕКС</c:v>
                </c:pt>
                <c:pt idx="11">
                  <c:v>Факультет інформаційних технологій</c:v>
                </c:pt>
                <c:pt idx="12">
                  <c:v>Хімічний факультет</c:v>
                </c:pt>
                <c:pt idx="13">
                  <c:v>ННІ журналістики</c:v>
                </c:pt>
                <c:pt idx="14">
                  <c:v>Факультет комп'ютютерних наук та кібернетики</c:v>
                </c:pt>
                <c:pt idx="15">
                  <c:v>ННІ міжнародних відносин</c:v>
                </c:pt>
                <c:pt idx="16">
                  <c:v>Історичний факультет</c:v>
                </c:pt>
                <c:pt idx="17">
                  <c:v>Військовий інститут</c:v>
                </c:pt>
                <c:pt idx="18">
                  <c:v>ННІ «Інститут геології»</c:v>
                </c:pt>
                <c:pt idx="19">
                  <c:v>ННЦ «Інститут біології та медицини»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Лист1!$B$2:$B$22</c:f>
              <c:numCache>
                <c:formatCode>0.00</c:formatCode>
                <c:ptCount val="21"/>
                <c:pt idx="0">
                  <c:v>1.7</c:v>
                </c:pt>
                <c:pt idx="2">
                  <c:v>2.57</c:v>
                </c:pt>
                <c:pt idx="3">
                  <c:v>2.23</c:v>
                </c:pt>
                <c:pt idx="4">
                  <c:v>2.2000000000000002</c:v>
                </c:pt>
                <c:pt idx="5">
                  <c:v>2.1800000000000002</c:v>
                </c:pt>
                <c:pt idx="6">
                  <c:v>2</c:v>
                </c:pt>
                <c:pt idx="7">
                  <c:v>1.84</c:v>
                </c:pt>
                <c:pt idx="8">
                  <c:v>1.57</c:v>
                </c:pt>
                <c:pt idx="9">
                  <c:v>1.56</c:v>
                </c:pt>
                <c:pt idx="10">
                  <c:v>1.5</c:v>
                </c:pt>
                <c:pt idx="11">
                  <c:v>1.5</c:v>
                </c:pt>
                <c:pt idx="12">
                  <c:v>1.42</c:v>
                </c:pt>
                <c:pt idx="13">
                  <c:v>1.4</c:v>
                </c:pt>
                <c:pt idx="14">
                  <c:v>1.36</c:v>
                </c:pt>
                <c:pt idx="15">
                  <c:v>1.33</c:v>
                </c:pt>
                <c:pt idx="16">
                  <c:v>1.29</c:v>
                </c:pt>
                <c:pt idx="17">
                  <c:v>1</c:v>
                </c:pt>
                <c:pt idx="18">
                  <c:v>1</c:v>
                </c:pt>
                <c:pt idx="19">
                  <c:v>0.5</c:v>
                </c:pt>
                <c:pt idx="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6B-4B08-B85E-18ED27578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9. Наскільки виправдались Ваші очікування щодо навчання на даній ОНП?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D7-45A5-9C48-F81FE7C2D8E2}"/>
              </c:ext>
            </c:extLst>
          </c:dPt>
          <c:dPt>
            <c:idx val="2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1D7-45A5-9C48-F81FE7C2D8E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ННІ філології</c:v>
                </c:pt>
                <c:pt idx="4">
                  <c:v>Економічний факультет</c:v>
                </c:pt>
                <c:pt idx="5">
                  <c:v>Філософський факультет</c:v>
                </c:pt>
                <c:pt idx="6">
                  <c:v>Географічний факультет</c:v>
                </c:pt>
                <c:pt idx="7">
                  <c:v>ННІ права</c:v>
                </c:pt>
                <c:pt idx="8">
                  <c:v>Факультет інформаційних технологій</c:v>
                </c:pt>
                <c:pt idx="9">
                  <c:v>Факультет комп'ютерних наук та кібернетики</c:v>
                </c:pt>
                <c:pt idx="10">
                  <c:v>ННІ міжнародних відносин</c:v>
                </c:pt>
                <c:pt idx="11">
                  <c:v>ННІ високих технологій</c:v>
                </c:pt>
                <c:pt idx="12">
                  <c:v>ФРЕКС</c:v>
                </c:pt>
                <c:pt idx="13">
                  <c:v>Хімічний факультет</c:v>
                </c:pt>
                <c:pt idx="14">
                  <c:v>Військовий інститут</c:v>
                </c:pt>
                <c:pt idx="15">
                  <c:v>Історичний факультет</c:v>
                </c:pt>
                <c:pt idx="16">
                  <c:v>Факультетт психології</c:v>
                </c:pt>
                <c:pt idx="17">
                  <c:v>ННІ журналістики</c:v>
                </c:pt>
                <c:pt idx="18">
                  <c:v>ННІ «Інститут геології»</c:v>
                </c:pt>
                <c:pt idx="19">
                  <c:v>ННЦ «Інститут біології та медицини»</c:v>
                </c:pt>
                <c:pt idx="20">
                  <c:v>Фізичний факультет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1.52</c:v>
                </c:pt>
                <c:pt idx="2" formatCode="0.00">
                  <c:v>2.57</c:v>
                </c:pt>
                <c:pt idx="3" formatCode="0.00">
                  <c:v>2.15</c:v>
                </c:pt>
                <c:pt idx="4" formatCode="0.00">
                  <c:v>2.06</c:v>
                </c:pt>
                <c:pt idx="5" formatCode="0.00">
                  <c:v>1.93</c:v>
                </c:pt>
                <c:pt idx="6" formatCode="0.00">
                  <c:v>1.9</c:v>
                </c:pt>
                <c:pt idx="7" formatCode="0.00">
                  <c:v>1.64</c:v>
                </c:pt>
                <c:pt idx="8" formatCode="0.00">
                  <c:v>1.5</c:v>
                </c:pt>
                <c:pt idx="9" formatCode="0.00">
                  <c:v>1.5</c:v>
                </c:pt>
                <c:pt idx="10" formatCode="0.00">
                  <c:v>1.44</c:v>
                </c:pt>
                <c:pt idx="11" formatCode="0.00">
                  <c:v>1.43</c:v>
                </c:pt>
                <c:pt idx="12" formatCode="0.00">
                  <c:v>1.2</c:v>
                </c:pt>
                <c:pt idx="13" formatCode="0.00">
                  <c:v>1.08</c:v>
                </c:pt>
                <c:pt idx="14" formatCode="0.00">
                  <c:v>1</c:v>
                </c:pt>
                <c:pt idx="15" formatCode="0.00">
                  <c:v>1</c:v>
                </c:pt>
                <c:pt idx="16" formatCode="0.00">
                  <c:v>1</c:v>
                </c:pt>
                <c:pt idx="17" formatCode="0.00">
                  <c:v>0.8</c:v>
                </c:pt>
                <c:pt idx="18" formatCode="0.00">
                  <c:v>0.33</c:v>
                </c:pt>
                <c:pt idx="19" formatCode="0.00">
                  <c:v>0</c:v>
                </c:pt>
                <c:pt idx="20" formatCode="0.00">
                  <c:v>-0.33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D7-45A5-9C48-F81FE7C2D8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402842708774199"/>
          <c:y val="9.3820630615713871E-2"/>
          <c:w val="0.52745269580861376"/>
          <c:h val="0.888237930980769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10. Чи порекомендуєте Ви навчання на цій ОНП або співпрацю у рамках ОНП своїм друзям, знайомим, колегам та ін.?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E4-4541-B9BF-E67CFBCC77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Лист1!$A$2:$A$22</c:f>
              <c:strCache>
                <c:ptCount val="21"/>
                <c:pt idx="0">
                  <c:v>Середній показник</c:v>
                </c:pt>
                <c:pt idx="2">
                  <c:v>Механіко-математичний факультет</c:v>
                </c:pt>
                <c:pt idx="3">
                  <c:v>Військовий інститут</c:v>
                </c:pt>
                <c:pt idx="4">
                  <c:v>Філософський факультет</c:v>
                </c:pt>
                <c:pt idx="5">
                  <c:v>Економічний факультет</c:v>
                </c:pt>
                <c:pt idx="6">
                  <c:v>ННІ філології</c:v>
                </c:pt>
                <c:pt idx="7">
                  <c:v>Історичний факультет</c:v>
                </c:pt>
                <c:pt idx="8">
                  <c:v>ННІ права</c:v>
                </c:pt>
                <c:pt idx="9">
                  <c:v>Географічний факультет</c:v>
                </c:pt>
                <c:pt idx="10">
                  <c:v>Факультет психології</c:v>
                </c:pt>
                <c:pt idx="11">
                  <c:v>ФРЕКС</c:v>
                </c:pt>
                <c:pt idx="12">
                  <c:v>ННІ міжнародних відносин</c:v>
                </c:pt>
                <c:pt idx="13">
                  <c:v>Факультет комп'ютерних наук та кібернетики</c:v>
                </c:pt>
                <c:pt idx="14">
                  <c:v>Факультет інформаційних технологій</c:v>
                </c:pt>
                <c:pt idx="15">
                  <c:v>ННІ «Інститут геології»</c:v>
                </c:pt>
                <c:pt idx="16">
                  <c:v>Фізичний факультет</c:v>
                </c:pt>
                <c:pt idx="17">
                  <c:v>Хімічний факультет</c:v>
                </c:pt>
                <c:pt idx="18">
                  <c:v>ННІ високих технологій</c:v>
                </c:pt>
                <c:pt idx="19">
                  <c:v>ННІ журналістики</c:v>
                </c:pt>
                <c:pt idx="20">
                  <c:v>ННЦ «Інститут біології та медицини»</c:v>
                </c:pt>
              </c:strCache>
            </c:strRef>
          </c:cat>
          <c:val>
            <c:numRef>
              <c:f>Лист1!$B$2:$B$22</c:f>
              <c:numCache>
                <c:formatCode>General</c:formatCode>
                <c:ptCount val="21"/>
                <c:pt idx="0" formatCode="0.00">
                  <c:v>1.42</c:v>
                </c:pt>
                <c:pt idx="2" formatCode="0.00">
                  <c:v>2.29</c:v>
                </c:pt>
                <c:pt idx="3" formatCode="0.00">
                  <c:v>2</c:v>
                </c:pt>
                <c:pt idx="4" formatCode="0.00">
                  <c:v>1.93</c:v>
                </c:pt>
                <c:pt idx="5" formatCode="0.00">
                  <c:v>1.88</c:v>
                </c:pt>
                <c:pt idx="6" formatCode="0.00">
                  <c:v>1.69</c:v>
                </c:pt>
                <c:pt idx="7" formatCode="0.00">
                  <c:v>1.57</c:v>
                </c:pt>
                <c:pt idx="8" formatCode="0.00">
                  <c:v>1.56</c:v>
                </c:pt>
                <c:pt idx="9" formatCode="0.00">
                  <c:v>1.4</c:v>
                </c:pt>
                <c:pt idx="10" formatCode="0.00">
                  <c:v>1.33</c:v>
                </c:pt>
                <c:pt idx="11" formatCode="0.00">
                  <c:v>1.3</c:v>
                </c:pt>
                <c:pt idx="12" formatCode="0.00">
                  <c:v>1.22</c:v>
                </c:pt>
                <c:pt idx="13" formatCode="0.00">
                  <c:v>1.21</c:v>
                </c:pt>
                <c:pt idx="14" formatCode="0.00">
                  <c:v>1.1299999999999999</c:v>
                </c:pt>
                <c:pt idx="15" formatCode="0.00">
                  <c:v>1</c:v>
                </c:pt>
                <c:pt idx="16" formatCode="0.00">
                  <c:v>1</c:v>
                </c:pt>
                <c:pt idx="17" formatCode="0.00">
                  <c:v>1</c:v>
                </c:pt>
                <c:pt idx="18" formatCode="0.00">
                  <c:v>0.86</c:v>
                </c:pt>
                <c:pt idx="19" formatCode="0.00">
                  <c:v>0.8</c:v>
                </c:pt>
                <c:pt idx="20" formatCode="0.0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E4-4541-B9BF-E67CFBCC7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173780448"/>
        <c:axId val="1173795328"/>
      </c:barChart>
      <c:catAx>
        <c:axId val="1173780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uk-UA"/>
          </a:p>
        </c:txPr>
        <c:crossAx val="1173795328"/>
        <c:crosses val="autoZero"/>
        <c:auto val="1"/>
        <c:lblAlgn val="ctr"/>
        <c:lblOffset val="100"/>
        <c:noMultiLvlLbl val="0"/>
      </c:catAx>
      <c:valAx>
        <c:axId val="1173795328"/>
        <c:scaling>
          <c:orientation val="minMax"/>
          <c:min val="-3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uk-UA"/>
          </a:p>
        </c:txPr>
        <c:crossAx val="117378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371F6F-BD9E-4331-A761-D6D62502B740}" type="doc">
      <dgm:prSet loTypeId="urn:microsoft.com/office/officeart/2008/layout/VerticalCurvedList" loCatId="list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ru-UA"/>
        </a:p>
      </dgm:t>
    </dgm:pt>
    <dgm:pt modelId="{3BBAE027-2101-45F2-9BC0-6E627B8AAA32}">
      <dgm:prSet phldrT="[Текст]" custT="1"/>
      <dgm:spPr>
        <a:solidFill>
          <a:srgbClr val="FF0000"/>
        </a:solidFill>
      </dgm:spPr>
      <dgm:t>
        <a:bodyPr/>
        <a:lstStyle/>
        <a:p>
          <a:r>
            <a:rPr lang="ru-RU" sz="2400" b="1" i="0" u="none" cap="all" baseline="0" dirty="0">
              <a:latin typeface="Arial" panose="020B0604020202020204" pitchFamily="34" charset="0"/>
              <a:cs typeface="Arial" panose="020B0604020202020204" pitchFamily="34" charset="0"/>
            </a:rPr>
            <a:t>	План: </a:t>
          </a:r>
          <a:r>
            <a:rPr lang="ru-RU" sz="3600" b="1" i="0" u="none" dirty="0">
              <a:latin typeface="Arial" panose="020B0604020202020204" pitchFamily="34" charset="0"/>
              <a:cs typeface="Arial" panose="020B0604020202020204" pitchFamily="34" charset="0"/>
            </a:rPr>
            <a:t>523</a:t>
          </a:r>
          <a:r>
            <a:rPr lang="ru-RU" sz="2800" b="1" i="0" u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2800" b="1" i="0" u="none" noProof="0" dirty="0">
              <a:latin typeface="Arial" panose="020B0604020202020204" pitchFamily="34" charset="0"/>
              <a:cs typeface="Arial" panose="020B0604020202020204" pitchFamily="34" charset="0"/>
            </a:rPr>
            <a:t>запрошення</a:t>
          </a:r>
          <a:r>
            <a:rPr lang="ru-RU" sz="2400" b="0" i="0" u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2400" b="0" i="0" u="none" noProof="0" dirty="0">
              <a:latin typeface="Arial" panose="020B0604020202020204" pitchFamily="34" charset="0"/>
              <a:cs typeface="Arial" panose="020B0604020202020204" pitchFamily="34" charset="0"/>
            </a:rPr>
            <a:t>на надіслано опитування </a:t>
          </a:r>
        </a:p>
        <a:p>
          <a:r>
            <a:rPr lang="uk-UA" sz="2400" b="1" i="0" u="none" cap="all" baseline="0" noProof="0" dirty="0">
              <a:latin typeface="Arial" panose="020B0604020202020204" pitchFamily="34" charset="0"/>
              <a:cs typeface="Arial" panose="020B0604020202020204" pitchFamily="34" charset="0"/>
            </a:rPr>
            <a:t>	Факт:</a:t>
          </a:r>
          <a:r>
            <a:rPr lang="uk-UA" sz="2400" b="0" i="0" u="none" noProof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3600" b="1" i="0" u="none" noProof="0" dirty="0">
              <a:latin typeface="Arial" panose="020B0604020202020204" pitchFamily="34" charset="0"/>
              <a:cs typeface="Arial" panose="020B0604020202020204" pitchFamily="34" charset="0"/>
            </a:rPr>
            <a:t>179</a:t>
          </a:r>
          <a:r>
            <a:rPr lang="uk-UA" sz="2800" b="1" i="0" u="none" noProof="0" dirty="0">
              <a:latin typeface="Arial" panose="020B0604020202020204" pitchFamily="34" charset="0"/>
              <a:cs typeface="Arial" panose="020B0604020202020204" pitchFamily="34" charset="0"/>
            </a:rPr>
            <a:t> здобувачів </a:t>
          </a:r>
          <a:r>
            <a:rPr lang="uk-UA" sz="2400" b="0" i="0" u="none" noProof="0" dirty="0">
              <a:latin typeface="Arial" panose="020B0604020202020204" pitchFamily="34" charset="0"/>
              <a:cs typeface="Arial" panose="020B0604020202020204" pitchFamily="34" charset="0"/>
            </a:rPr>
            <a:t>взяли участь в опитуванні</a:t>
          </a:r>
          <a:endParaRPr lang="uk-UA" sz="2000" b="0" i="0" u="none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D81099-E233-4E24-91D4-D965A56447BE}" type="parTrans" cxnId="{841DEA88-E5F4-4FB3-8527-ADC26D5EE40B}">
      <dgm:prSet/>
      <dgm:spPr/>
      <dgm:t>
        <a:bodyPr/>
        <a:lstStyle/>
        <a:p>
          <a:endParaRPr lang="ru-UA"/>
        </a:p>
      </dgm:t>
    </dgm:pt>
    <dgm:pt modelId="{DF2C496D-C924-43C5-AE7B-58ABF7BFBB35}" type="sibTrans" cxnId="{841DEA88-E5F4-4FB3-8527-ADC26D5EE40B}">
      <dgm:prSet/>
      <dgm:spPr/>
      <dgm:t>
        <a:bodyPr/>
        <a:lstStyle/>
        <a:p>
          <a:endParaRPr lang="ru-UA"/>
        </a:p>
      </dgm:t>
    </dgm:pt>
    <dgm:pt modelId="{7D11DA67-6381-4A30-8F0D-33EB830A29F5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400" b="0" i="0" u="none" dirty="0">
              <a:latin typeface="Arial" panose="020B0604020202020204" pitchFamily="34" charset="0"/>
              <a:cs typeface="Arial" panose="020B0604020202020204" pitchFamily="34" charset="0"/>
            </a:rPr>
            <a:t>	      </a:t>
          </a:r>
          <a:r>
            <a:rPr lang="ru-RU" sz="3600" b="1" i="0" u="none" dirty="0">
              <a:latin typeface="Arial" panose="020B0604020202020204" pitchFamily="34" charset="0"/>
              <a:cs typeface="Arial" panose="020B0604020202020204" pitchFamily="34" charset="0"/>
            </a:rPr>
            <a:t>44</a:t>
          </a:r>
          <a:r>
            <a:rPr lang="ru-RU" sz="2400" b="0" i="0" u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2800" b="1" i="0" u="none" dirty="0" err="1">
              <a:latin typeface="Arial" panose="020B0604020202020204" pitchFamily="34" charset="0"/>
              <a:cs typeface="Arial" panose="020B0604020202020204" pitchFamily="34" charset="0"/>
            </a:rPr>
            <a:t>освітньо-наукові</a:t>
          </a:r>
          <a:r>
            <a:rPr lang="ru-RU" sz="2800" b="1" i="0" u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2800" b="1" i="0" u="none" dirty="0" err="1">
              <a:latin typeface="Arial" panose="020B0604020202020204" pitchFamily="34" charset="0"/>
              <a:cs typeface="Arial" panose="020B0604020202020204" pitchFamily="34" charset="0"/>
            </a:rPr>
            <a:t>програми</a:t>
          </a:r>
          <a:endParaRPr lang="ru-UA" sz="2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1B3CF9-4516-4A3E-80A8-DF5207CAA365}" type="parTrans" cxnId="{78150CDD-839F-4AA9-8D75-1868AF3917CE}">
      <dgm:prSet/>
      <dgm:spPr/>
      <dgm:t>
        <a:bodyPr/>
        <a:lstStyle/>
        <a:p>
          <a:endParaRPr lang="ru-UA"/>
        </a:p>
      </dgm:t>
    </dgm:pt>
    <dgm:pt modelId="{F5836718-0828-465C-803D-DAE1B52DB726}" type="sibTrans" cxnId="{78150CDD-839F-4AA9-8D75-1868AF3917CE}">
      <dgm:prSet/>
      <dgm:spPr/>
      <dgm:t>
        <a:bodyPr/>
        <a:lstStyle/>
        <a:p>
          <a:endParaRPr lang="ru-UA"/>
        </a:p>
      </dgm:t>
    </dgm:pt>
    <dgm:pt modelId="{E3578C67-4BD4-425B-969B-C26A46E17656}">
      <dgm:prSet custT="1"/>
      <dgm:spPr>
        <a:solidFill>
          <a:srgbClr val="0070C0"/>
        </a:solidFill>
      </dgm:spPr>
      <dgm:t>
        <a:bodyPr/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400" b="0" i="0" u="none" dirty="0"/>
            <a:t>	</a:t>
          </a:r>
          <a:r>
            <a:rPr lang="ru-RU" sz="3600" b="1" i="0" u="none" dirty="0">
              <a:latin typeface="Arial" panose="020B0604020202020204" pitchFamily="34" charset="0"/>
              <a:cs typeface="Arial" panose="020B0604020202020204" pitchFamily="34" charset="0"/>
            </a:rPr>
            <a:t>19</a:t>
          </a:r>
          <a:r>
            <a:rPr lang="ru-RU" sz="2400" b="0" i="0" u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2800" b="1" i="0" u="none" noProof="0" dirty="0">
              <a:latin typeface="Arial" panose="020B0604020202020204" pitchFamily="34" charset="0"/>
              <a:cs typeface="Arial" panose="020B0604020202020204" pitchFamily="34" charset="0"/>
            </a:rPr>
            <a:t>факультетів</a:t>
          </a:r>
          <a:r>
            <a:rPr lang="en-US" sz="2800" b="1" i="0" u="none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uk-UA" sz="2800" b="1" i="0" u="none" dirty="0">
              <a:latin typeface="Arial" panose="020B0604020202020204" pitchFamily="34" charset="0"/>
              <a:cs typeface="Arial" panose="020B0604020202020204" pitchFamily="34" charset="0"/>
            </a:rPr>
            <a:t>інститутів</a:t>
          </a:r>
          <a:endParaRPr lang="ru-UA" sz="1600" b="1" i="0" u="none" dirty="0"/>
        </a:p>
      </dgm:t>
    </dgm:pt>
    <dgm:pt modelId="{24218176-AF5A-4158-B377-ED8BD79CBC94}" type="parTrans" cxnId="{B4869F65-F396-47B3-9C81-9F39426E60E0}">
      <dgm:prSet/>
      <dgm:spPr/>
      <dgm:t>
        <a:bodyPr/>
        <a:lstStyle/>
        <a:p>
          <a:endParaRPr lang="ru-UA"/>
        </a:p>
      </dgm:t>
    </dgm:pt>
    <dgm:pt modelId="{158152BA-C72B-467D-80BD-B5D563E5167D}" type="sibTrans" cxnId="{B4869F65-F396-47B3-9C81-9F39426E60E0}">
      <dgm:prSet/>
      <dgm:spPr/>
      <dgm:t>
        <a:bodyPr/>
        <a:lstStyle/>
        <a:p>
          <a:endParaRPr lang="ru-UA"/>
        </a:p>
      </dgm:t>
    </dgm:pt>
    <dgm:pt modelId="{C589817B-D63D-4CB6-BF61-E2A6E76BBED6}" type="pres">
      <dgm:prSet presAssocID="{C0371F6F-BD9E-4331-A761-D6D62502B740}" presName="Name0" presStyleCnt="0">
        <dgm:presLayoutVars>
          <dgm:chMax val="7"/>
          <dgm:chPref val="7"/>
          <dgm:dir/>
        </dgm:presLayoutVars>
      </dgm:prSet>
      <dgm:spPr/>
    </dgm:pt>
    <dgm:pt modelId="{7ED9135F-4BB1-4F60-A70D-9C80A2254B63}" type="pres">
      <dgm:prSet presAssocID="{C0371F6F-BD9E-4331-A761-D6D62502B740}" presName="Name1" presStyleCnt="0"/>
      <dgm:spPr/>
    </dgm:pt>
    <dgm:pt modelId="{B9D69506-1EAC-4028-93E4-4FE0C0DE7476}" type="pres">
      <dgm:prSet presAssocID="{C0371F6F-BD9E-4331-A761-D6D62502B740}" presName="cycle" presStyleCnt="0"/>
      <dgm:spPr/>
    </dgm:pt>
    <dgm:pt modelId="{6A7A5392-DFA3-48F2-8CA9-100621812AA5}" type="pres">
      <dgm:prSet presAssocID="{C0371F6F-BD9E-4331-A761-D6D62502B740}" presName="srcNode" presStyleLbl="node1" presStyleIdx="0" presStyleCnt="3"/>
      <dgm:spPr/>
    </dgm:pt>
    <dgm:pt modelId="{95F42262-9662-46E1-9598-87AD8C2AF1F1}" type="pres">
      <dgm:prSet presAssocID="{C0371F6F-BD9E-4331-A761-D6D62502B740}" presName="conn" presStyleLbl="parChTrans1D2" presStyleIdx="0" presStyleCnt="1"/>
      <dgm:spPr/>
    </dgm:pt>
    <dgm:pt modelId="{A8C0B528-E5E5-434E-BC1E-933A172B06CF}" type="pres">
      <dgm:prSet presAssocID="{C0371F6F-BD9E-4331-A761-D6D62502B740}" presName="extraNode" presStyleLbl="node1" presStyleIdx="0" presStyleCnt="3"/>
      <dgm:spPr/>
    </dgm:pt>
    <dgm:pt modelId="{9707C8A8-00C5-43DB-99AC-93AEC8969A3B}" type="pres">
      <dgm:prSet presAssocID="{C0371F6F-BD9E-4331-A761-D6D62502B740}" presName="dstNode" presStyleLbl="node1" presStyleIdx="0" presStyleCnt="3"/>
      <dgm:spPr/>
    </dgm:pt>
    <dgm:pt modelId="{F0E7C50B-0CF6-48EC-8F00-A2C843ACCB5D}" type="pres">
      <dgm:prSet presAssocID="{3BBAE027-2101-45F2-9BC0-6E627B8AAA32}" presName="text_1" presStyleLbl="node1" presStyleIdx="0" presStyleCnt="3" custScaleY="170526">
        <dgm:presLayoutVars>
          <dgm:bulletEnabled val="1"/>
        </dgm:presLayoutVars>
      </dgm:prSet>
      <dgm:spPr/>
    </dgm:pt>
    <dgm:pt modelId="{D154254B-01E6-4E34-A87D-ABD86AECED00}" type="pres">
      <dgm:prSet presAssocID="{3BBAE027-2101-45F2-9BC0-6E627B8AAA32}" presName="accent_1" presStyleCnt="0"/>
      <dgm:spPr/>
    </dgm:pt>
    <dgm:pt modelId="{5E742D38-BB68-48EB-BFCE-FB639D4957B5}" type="pres">
      <dgm:prSet presAssocID="{3BBAE027-2101-45F2-9BC0-6E627B8AAA32}" presName="accentRepeatNode" presStyleLbl="solidFgAcc1" presStyleIdx="0" presStyleCnt="3" custScaleX="129481" custScaleY="129481"/>
      <dgm:spPr/>
    </dgm:pt>
    <dgm:pt modelId="{6AD0BE11-E5B8-44ED-8CAC-3B26D735F90A}" type="pres">
      <dgm:prSet presAssocID="{E3578C67-4BD4-425B-969B-C26A46E17656}" presName="text_2" presStyleLbl="node1" presStyleIdx="1" presStyleCnt="3">
        <dgm:presLayoutVars>
          <dgm:bulletEnabled val="1"/>
        </dgm:presLayoutVars>
      </dgm:prSet>
      <dgm:spPr/>
    </dgm:pt>
    <dgm:pt modelId="{CB089B86-2DA0-45B4-B3A7-79CCB0FF6FE1}" type="pres">
      <dgm:prSet presAssocID="{E3578C67-4BD4-425B-969B-C26A46E17656}" presName="accent_2" presStyleCnt="0"/>
      <dgm:spPr/>
    </dgm:pt>
    <dgm:pt modelId="{FF28AFC0-709C-46D1-B896-211E139C6348}" type="pres">
      <dgm:prSet presAssocID="{E3578C67-4BD4-425B-969B-C26A46E17656}" presName="accentRepeatNode" presStyleLbl="solidFgAcc1" presStyleIdx="1" presStyleCnt="3"/>
      <dgm:spPr/>
    </dgm:pt>
    <dgm:pt modelId="{172B3425-9EF5-4BE5-BA61-91675A08A91B}" type="pres">
      <dgm:prSet presAssocID="{7D11DA67-6381-4A30-8F0D-33EB830A29F5}" presName="text_3" presStyleLbl="node1" presStyleIdx="2" presStyleCnt="3">
        <dgm:presLayoutVars>
          <dgm:bulletEnabled val="1"/>
        </dgm:presLayoutVars>
      </dgm:prSet>
      <dgm:spPr/>
    </dgm:pt>
    <dgm:pt modelId="{C67BE7A4-5779-4261-9D1F-09F94A5065AA}" type="pres">
      <dgm:prSet presAssocID="{7D11DA67-6381-4A30-8F0D-33EB830A29F5}" presName="accent_3" presStyleCnt="0"/>
      <dgm:spPr/>
    </dgm:pt>
    <dgm:pt modelId="{F3B335C3-BB46-4675-8CA2-E3C2099B80C4}" type="pres">
      <dgm:prSet presAssocID="{7D11DA67-6381-4A30-8F0D-33EB830A29F5}" presName="accentRepeatNode" presStyleLbl="solidFgAcc1" presStyleIdx="2" presStyleCnt="3"/>
      <dgm:spPr/>
    </dgm:pt>
  </dgm:ptLst>
  <dgm:cxnLst>
    <dgm:cxn modelId="{B4869F65-F396-47B3-9C81-9F39426E60E0}" srcId="{C0371F6F-BD9E-4331-A761-D6D62502B740}" destId="{E3578C67-4BD4-425B-969B-C26A46E17656}" srcOrd="1" destOrd="0" parTransId="{24218176-AF5A-4158-B377-ED8BD79CBC94}" sibTransId="{158152BA-C72B-467D-80BD-B5D563E5167D}"/>
    <dgm:cxn modelId="{07839C7B-BCED-45C4-87A6-114ACFB44F1E}" type="presOf" srcId="{DF2C496D-C924-43C5-AE7B-58ABF7BFBB35}" destId="{95F42262-9662-46E1-9598-87AD8C2AF1F1}" srcOrd="0" destOrd="0" presId="urn:microsoft.com/office/officeart/2008/layout/VerticalCurvedList"/>
    <dgm:cxn modelId="{841DEA88-E5F4-4FB3-8527-ADC26D5EE40B}" srcId="{C0371F6F-BD9E-4331-A761-D6D62502B740}" destId="{3BBAE027-2101-45F2-9BC0-6E627B8AAA32}" srcOrd="0" destOrd="0" parTransId="{47D81099-E233-4E24-91D4-D965A56447BE}" sibTransId="{DF2C496D-C924-43C5-AE7B-58ABF7BFBB35}"/>
    <dgm:cxn modelId="{31BE6E89-A7EF-4147-9D5E-D0BA8DA321A1}" type="presOf" srcId="{3BBAE027-2101-45F2-9BC0-6E627B8AAA32}" destId="{F0E7C50B-0CF6-48EC-8F00-A2C843ACCB5D}" srcOrd="0" destOrd="0" presId="urn:microsoft.com/office/officeart/2008/layout/VerticalCurvedList"/>
    <dgm:cxn modelId="{D61ACCAC-EFCA-471A-8918-8DF211CEA7AC}" type="presOf" srcId="{C0371F6F-BD9E-4331-A761-D6D62502B740}" destId="{C589817B-D63D-4CB6-BF61-E2A6E76BBED6}" srcOrd="0" destOrd="0" presId="urn:microsoft.com/office/officeart/2008/layout/VerticalCurvedList"/>
    <dgm:cxn modelId="{78150CDD-839F-4AA9-8D75-1868AF3917CE}" srcId="{C0371F6F-BD9E-4331-A761-D6D62502B740}" destId="{7D11DA67-6381-4A30-8F0D-33EB830A29F5}" srcOrd="2" destOrd="0" parTransId="{321B3CF9-4516-4A3E-80A8-DF5207CAA365}" sibTransId="{F5836718-0828-465C-803D-DAE1B52DB726}"/>
    <dgm:cxn modelId="{5D2122E6-259B-49B8-8B49-A28B1B174BAB}" type="presOf" srcId="{7D11DA67-6381-4A30-8F0D-33EB830A29F5}" destId="{172B3425-9EF5-4BE5-BA61-91675A08A91B}" srcOrd="0" destOrd="0" presId="urn:microsoft.com/office/officeart/2008/layout/VerticalCurvedList"/>
    <dgm:cxn modelId="{55DD8EEF-B9A1-4C98-988B-7650031A3CF9}" type="presOf" srcId="{E3578C67-4BD4-425B-969B-C26A46E17656}" destId="{6AD0BE11-E5B8-44ED-8CAC-3B26D735F90A}" srcOrd="0" destOrd="0" presId="urn:microsoft.com/office/officeart/2008/layout/VerticalCurvedList"/>
    <dgm:cxn modelId="{828AE130-FCD3-4FA0-A130-F3AB0E2B69AA}" type="presParOf" srcId="{C589817B-D63D-4CB6-BF61-E2A6E76BBED6}" destId="{7ED9135F-4BB1-4F60-A70D-9C80A2254B63}" srcOrd="0" destOrd="0" presId="urn:microsoft.com/office/officeart/2008/layout/VerticalCurvedList"/>
    <dgm:cxn modelId="{AA9F056B-10C5-4EF8-81ED-93D5B60E2456}" type="presParOf" srcId="{7ED9135F-4BB1-4F60-A70D-9C80A2254B63}" destId="{B9D69506-1EAC-4028-93E4-4FE0C0DE7476}" srcOrd="0" destOrd="0" presId="urn:microsoft.com/office/officeart/2008/layout/VerticalCurvedList"/>
    <dgm:cxn modelId="{D015FE06-79B3-463E-86E6-E04824CC0813}" type="presParOf" srcId="{B9D69506-1EAC-4028-93E4-4FE0C0DE7476}" destId="{6A7A5392-DFA3-48F2-8CA9-100621812AA5}" srcOrd="0" destOrd="0" presId="urn:microsoft.com/office/officeart/2008/layout/VerticalCurvedList"/>
    <dgm:cxn modelId="{40CECDD7-88F5-411D-ADD6-739A47B032E6}" type="presParOf" srcId="{B9D69506-1EAC-4028-93E4-4FE0C0DE7476}" destId="{95F42262-9662-46E1-9598-87AD8C2AF1F1}" srcOrd="1" destOrd="0" presId="urn:microsoft.com/office/officeart/2008/layout/VerticalCurvedList"/>
    <dgm:cxn modelId="{B78363A9-6EBE-452F-AACE-D6FE8763C0B1}" type="presParOf" srcId="{B9D69506-1EAC-4028-93E4-4FE0C0DE7476}" destId="{A8C0B528-E5E5-434E-BC1E-933A172B06CF}" srcOrd="2" destOrd="0" presId="urn:microsoft.com/office/officeart/2008/layout/VerticalCurvedList"/>
    <dgm:cxn modelId="{8AB0DF80-BCDA-46D5-B853-D781A118663A}" type="presParOf" srcId="{B9D69506-1EAC-4028-93E4-4FE0C0DE7476}" destId="{9707C8A8-00C5-43DB-99AC-93AEC8969A3B}" srcOrd="3" destOrd="0" presId="urn:microsoft.com/office/officeart/2008/layout/VerticalCurvedList"/>
    <dgm:cxn modelId="{AD5E60B5-933D-458F-A2A3-70FA9544FA23}" type="presParOf" srcId="{7ED9135F-4BB1-4F60-A70D-9C80A2254B63}" destId="{F0E7C50B-0CF6-48EC-8F00-A2C843ACCB5D}" srcOrd="1" destOrd="0" presId="urn:microsoft.com/office/officeart/2008/layout/VerticalCurvedList"/>
    <dgm:cxn modelId="{7C3957FE-4E6E-4DC6-8D45-BA3C080E50EE}" type="presParOf" srcId="{7ED9135F-4BB1-4F60-A70D-9C80A2254B63}" destId="{D154254B-01E6-4E34-A87D-ABD86AECED00}" srcOrd="2" destOrd="0" presId="urn:microsoft.com/office/officeart/2008/layout/VerticalCurvedList"/>
    <dgm:cxn modelId="{2DD84DE5-E488-4BE5-9F3D-AFFD406692FD}" type="presParOf" srcId="{D154254B-01E6-4E34-A87D-ABD86AECED00}" destId="{5E742D38-BB68-48EB-BFCE-FB639D4957B5}" srcOrd="0" destOrd="0" presId="urn:microsoft.com/office/officeart/2008/layout/VerticalCurvedList"/>
    <dgm:cxn modelId="{00FACE76-C5EC-437A-A781-E5D94051B828}" type="presParOf" srcId="{7ED9135F-4BB1-4F60-A70D-9C80A2254B63}" destId="{6AD0BE11-E5B8-44ED-8CAC-3B26D735F90A}" srcOrd="3" destOrd="0" presId="urn:microsoft.com/office/officeart/2008/layout/VerticalCurvedList"/>
    <dgm:cxn modelId="{FF0AE0E7-25C1-47D5-92CC-9337CD0D23E1}" type="presParOf" srcId="{7ED9135F-4BB1-4F60-A70D-9C80A2254B63}" destId="{CB089B86-2DA0-45B4-B3A7-79CCB0FF6FE1}" srcOrd="4" destOrd="0" presId="urn:microsoft.com/office/officeart/2008/layout/VerticalCurvedList"/>
    <dgm:cxn modelId="{525E6AFD-7511-42E4-B59D-2DC00D74F634}" type="presParOf" srcId="{CB089B86-2DA0-45B4-B3A7-79CCB0FF6FE1}" destId="{FF28AFC0-709C-46D1-B896-211E139C6348}" srcOrd="0" destOrd="0" presId="urn:microsoft.com/office/officeart/2008/layout/VerticalCurvedList"/>
    <dgm:cxn modelId="{851552D0-20F3-49FF-A0A1-AB8A4735AF3D}" type="presParOf" srcId="{7ED9135F-4BB1-4F60-A70D-9C80A2254B63}" destId="{172B3425-9EF5-4BE5-BA61-91675A08A91B}" srcOrd="5" destOrd="0" presId="urn:microsoft.com/office/officeart/2008/layout/VerticalCurvedList"/>
    <dgm:cxn modelId="{E8FB1D57-CFD5-42E2-AD0B-3E0B78DBED56}" type="presParOf" srcId="{7ED9135F-4BB1-4F60-A70D-9C80A2254B63}" destId="{C67BE7A4-5779-4261-9D1F-09F94A5065AA}" srcOrd="6" destOrd="0" presId="urn:microsoft.com/office/officeart/2008/layout/VerticalCurvedList"/>
    <dgm:cxn modelId="{444F8B46-383E-4B26-8EE3-80760CAF028B}" type="presParOf" srcId="{C67BE7A4-5779-4261-9D1F-09F94A5065AA}" destId="{F3B335C3-BB46-4675-8CA2-E3C2099B80C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42262-9662-46E1-9598-87AD8C2AF1F1}">
      <dsp:nvSpPr>
        <dsp:cNvPr id="0" name=""/>
        <dsp:cNvSpPr/>
      </dsp:nvSpPr>
      <dsp:spPr>
        <a:xfrm>
          <a:off x="-6183072" y="-961831"/>
          <a:ext cx="7484313" cy="7484313"/>
        </a:xfrm>
        <a:prstGeom prst="blockArc">
          <a:avLst>
            <a:gd name="adj1" fmla="val 18900000"/>
            <a:gd name="adj2" fmla="val 2700000"/>
            <a:gd name="adj3" fmla="val 289"/>
          </a:avLst>
        </a:pr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E7C50B-0CF6-48EC-8F00-A2C843ACCB5D}">
      <dsp:nvSpPr>
        <dsp:cNvPr id="0" name=""/>
        <dsp:cNvSpPr/>
      </dsp:nvSpPr>
      <dsp:spPr>
        <a:xfrm>
          <a:off x="874276" y="163894"/>
          <a:ext cx="10628739" cy="1896470"/>
        </a:xfrm>
        <a:prstGeom prst="rect">
          <a:avLst/>
        </a:prstGeom>
        <a:solidFill>
          <a:srgbClr val="FF0000"/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275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u="none" kern="1200" cap="all" baseline="0" dirty="0">
              <a:latin typeface="Arial" panose="020B0604020202020204" pitchFamily="34" charset="0"/>
              <a:cs typeface="Arial" panose="020B0604020202020204" pitchFamily="34" charset="0"/>
            </a:rPr>
            <a:t>	План: </a:t>
          </a:r>
          <a:r>
            <a:rPr lang="ru-RU" sz="36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523</a:t>
          </a:r>
          <a:r>
            <a:rPr lang="ru-RU" sz="28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2800" b="1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запрошення</a:t>
          </a:r>
          <a:r>
            <a:rPr lang="ru-RU" sz="2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2400" b="0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на надіслано опитування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1" i="0" u="none" kern="1200" cap="all" baseline="0" noProof="0" dirty="0">
              <a:latin typeface="Arial" panose="020B0604020202020204" pitchFamily="34" charset="0"/>
              <a:cs typeface="Arial" panose="020B0604020202020204" pitchFamily="34" charset="0"/>
            </a:rPr>
            <a:t>	Факт:</a:t>
          </a:r>
          <a:r>
            <a:rPr lang="uk-UA" sz="2400" b="0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3600" b="1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179</a:t>
          </a:r>
          <a:r>
            <a:rPr lang="uk-UA" sz="2800" b="1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 здобувачів </a:t>
          </a:r>
          <a:r>
            <a:rPr lang="uk-UA" sz="2400" b="0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взяли участь в опитуванні</a:t>
          </a:r>
          <a:endParaRPr lang="uk-UA" sz="2000" b="0" i="0" u="none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74276" y="163894"/>
        <a:ext cx="10628739" cy="1896470"/>
      </dsp:txXfrm>
    </dsp:sp>
    <dsp:sp modelId="{5E742D38-BB68-48EB-BFCE-FB639D4957B5}">
      <dsp:nvSpPr>
        <dsp:cNvPr id="0" name=""/>
        <dsp:cNvSpPr/>
      </dsp:nvSpPr>
      <dsp:spPr>
        <a:xfrm>
          <a:off x="-25721" y="212131"/>
          <a:ext cx="1799996" cy="17999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AD0BE11-E5B8-44ED-8CAC-3B26D735F90A}">
      <dsp:nvSpPr>
        <dsp:cNvPr id="0" name=""/>
        <dsp:cNvSpPr/>
      </dsp:nvSpPr>
      <dsp:spPr>
        <a:xfrm>
          <a:off x="1278535" y="2224260"/>
          <a:ext cx="10224480" cy="1112130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2753" tIns="60960" rIns="60960" bIns="6096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400" b="0" i="0" u="none" kern="1200" dirty="0"/>
            <a:t>	</a:t>
          </a:r>
          <a:r>
            <a:rPr lang="ru-RU" sz="36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19</a:t>
          </a:r>
          <a:r>
            <a:rPr lang="ru-RU" sz="2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uk-UA" sz="2800" b="1" i="0" u="none" kern="1200" noProof="0" dirty="0">
              <a:latin typeface="Arial" panose="020B0604020202020204" pitchFamily="34" charset="0"/>
              <a:cs typeface="Arial" panose="020B0604020202020204" pitchFamily="34" charset="0"/>
            </a:rPr>
            <a:t>факультетів</a:t>
          </a:r>
          <a:r>
            <a:rPr lang="en-US" sz="28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uk-UA" sz="28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інститутів</a:t>
          </a:r>
          <a:endParaRPr lang="ru-UA" sz="1600" b="1" i="0" u="none" kern="1200" dirty="0"/>
        </a:p>
      </dsp:txBody>
      <dsp:txXfrm>
        <a:off x="1278535" y="2224260"/>
        <a:ext cx="10224480" cy="1112130"/>
      </dsp:txXfrm>
    </dsp:sp>
    <dsp:sp modelId="{FF28AFC0-709C-46D1-B896-211E139C6348}">
      <dsp:nvSpPr>
        <dsp:cNvPr id="0" name=""/>
        <dsp:cNvSpPr/>
      </dsp:nvSpPr>
      <dsp:spPr>
        <a:xfrm>
          <a:off x="583454" y="2085243"/>
          <a:ext cx="1390162" cy="1390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72B3425-9EF5-4BE5-BA61-91675A08A91B}">
      <dsp:nvSpPr>
        <dsp:cNvPr id="0" name=""/>
        <dsp:cNvSpPr/>
      </dsp:nvSpPr>
      <dsp:spPr>
        <a:xfrm>
          <a:off x="874276" y="3892455"/>
          <a:ext cx="10628739" cy="1112130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2753" tIns="60960" rIns="60960" bIns="6096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	      </a:t>
          </a:r>
          <a:r>
            <a:rPr lang="ru-RU" sz="36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44</a:t>
          </a:r>
          <a:r>
            <a:rPr lang="ru-RU" sz="2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2800" b="1" i="0" u="none" kern="1200" dirty="0" err="1">
              <a:latin typeface="Arial" panose="020B0604020202020204" pitchFamily="34" charset="0"/>
              <a:cs typeface="Arial" panose="020B0604020202020204" pitchFamily="34" charset="0"/>
            </a:rPr>
            <a:t>освітньо-наукові</a:t>
          </a:r>
          <a:r>
            <a:rPr lang="ru-RU" sz="2800" b="1" i="0" u="none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2800" b="1" i="0" u="none" kern="1200" dirty="0" err="1">
              <a:latin typeface="Arial" panose="020B0604020202020204" pitchFamily="34" charset="0"/>
              <a:cs typeface="Arial" panose="020B0604020202020204" pitchFamily="34" charset="0"/>
            </a:rPr>
            <a:t>програми</a:t>
          </a:r>
          <a:endParaRPr lang="ru-UA" sz="2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74276" y="3892455"/>
        <a:ext cx="10628739" cy="1112130"/>
      </dsp:txXfrm>
    </dsp:sp>
    <dsp:sp modelId="{F3B335C3-BB46-4675-8CA2-E3C2099B80C4}">
      <dsp:nvSpPr>
        <dsp:cNvPr id="0" name=""/>
        <dsp:cNvSpPr/>
      </dsp:nvSpPr>
      <dsp:spPr>
        <a:xfrm>
          <a:off x="179195" y="3753438"/>
          <a:ext cx="1390162" cy="1390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1111F-6708-432C-A0EB-7E35CAA6F15C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31269-7F55-4BC0-BA5F-19FA64505C36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4744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31269-7F55-4BC0-BA5F-19FA64505C36}" type="slidenum">
              <a:rPr lang="ru-UA" smtClean="0"/>
              <a:t>23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281079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50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4520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25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431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618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3612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3652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34964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78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9605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0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220934-DECC-4B1F-8CAD-3191FEDCDAFF}" type="datetimeFigureOut">
              <a:rPr lang="ru-UA" smtClean="0"/>
              <a:t>02/15/2026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99B5F1E-C471-4742-A491-52DA18AB97A7}" type="slidenum">
              <a:rPr lang="ru-UA" smtClean="0"/>
              <a:t>‹№›</a:t>
            </a:fld>
            <a:endParaRPr lang="ru-U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821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7C9896ED-81F6-4012-9622-0A54470F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834"/>
          <a:stretch>
            <a:fillRect/>
          </a:stretch>
        </p:blipFill>
        <p:spPr bwMode="auto">
          <a:xfrm>
            <a:off x="-9231" y="-1"/>
            <a:ext cx="12130346" cy="2186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3BAB07-E0B9-419A-B4B9-5B87D1741F94}"/>
              </a:ext>
            </a:extLst>
          </p:cNvPr>
          <p:cNvSpPr txBox="1"/>
          <p:nvPr/>
        </p:nvSpPr>
        <p:spPr>
          <a:xfrm>
            <a:off x="0" y="2168720"/>
            <a:ext cx="1213034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uk-UA" kern="0" cap="all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київський національний університет імені тараса Шевченка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3A36A-ED46-42E5-9C55-18C9971A69E5}"/>
              </a:ext>
            </a:extLst>
          </p:cNvPr>
          <p:cNvSpPr txBox="1"/>
          <p:nvPr/>
        </p:nvSpPr>
        <p:spPr>
          <a:xfrm>
            <a:off x="325820" y="3139782"/>
            <a:ext cx="11540359" cy="1891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sz="2000" b="1" cap="all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Результати опитування аспірантів (ад'юнктів) </a:t>
            </a:r>
          </a:p>
          <a:p>
            <a:pPr algn="ctr">
              <a:lnSpc>
                <a:spcPct val="150000"/>
              </a:lnSpc>
            </a:pPr>
            <a:r>
              <a:rPr lang="uk-UA" sz="2000" b="1" cap="all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щодо якості підготовки за </a:t>
            </a:r>
            <a:r>
              <a:rPr lang="uk-UA" sz="2000" b="1" cap="all" dirty="0" err="1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освітньо</a:t>
            </a:r>
            <a:r>
              <a:rPr lang="uk-UA" sz="2000" b="1" cap="all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-науковими програмами </a:t>
            </a:r>
          </a:p>
          <a:p>
            <a:pPr algn="ctr">
              <a:lnSpc>
                <a:spcPct val="150000"/>
              </a:lnSpc>
            </a:pPr>
            <a:r>
              <a:rPr lang="uk-UA" sz="2000" b="1" cap="all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підготовки здобувачів ступеня доктора філософії</a:t>
            </a:r>
          </a:p>
          <a:p>
            <a:pPr algn="ctr">
              <a:lnSpc>
                <a:spcPct val="150000"/>
              </a:lnSpc>
            </a:pPr>
            <a:r>
              <a:rPr lang="uk-UA" sz="2000" b="1" cap="all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2024-2025 навчальний рік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7B8D1E-2A39-440B-AC81-81AE633A3C73}"/>
              </a:ext>
            </a:extLst>
          </p:cNvPr>
          <p:cNvSpPr txBox="1"/>
          <p:nvPr/>
        </p:nvSpPr>
        <p:spPr>
          <a:xfrm>
            <a:off x="5507419" y="5494792"/>
            <a:ext cx="63587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0070C0"/>
                </a:solidFill>
                <a:latin typeface="Arial Black" panose="020B0A04020102020204" pitchFamily="34" charset="0"/>
              </a:rPr>
              <a:t>Анжеліка </a:t>
            </a:r>
            <a:r>
              <a:rPr lang="uk-UA" cap="all" dirty="0">
                <a:solidFill>
                  <a:srgbClr val="0070C0"/>
                </a:solidFill>
                <a:latin typeface="Arial Black" panose="020B0A04020102020204" pitchFamily="34" charset="0"/>
              </a:rPr>
              <a:t>Ткачук</a:t>
            </a:r>
            <a:r>
              <a:rPr lang="uk-UA" dirty="0">
                <a:solidFill>
                  <a:srgbClr val="0070C0"/>
                </a:solidFill>
                <a:latin typeface="Arial Black" panose="020B0A04020102020204" pitchFamily="34" charset="0"/>
              </a:rPr>
              <a:t>, доктор філософії</a:t>
            </a:r>
          </a:p>
          <a:p>
            <a:endParaRPr lang="uk-UA" sz="8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r>
              <a:rPr lang="uk-UA" dirty="0">
                <a:solidFill>
                  <a:srgbClr val="0070C0"/>
                </a:solidFill>
                <a:latin typeface="Arial Black" panose="020B0A04020102020204" pitchFamily="34" charset="0"/>
              </a:rPr>
              <a:t>завідувач відділу аспірантури та докторантури</a:t>
            </a:r>
          </a:p>
        </p:txBody>
      </p:sp>
    </p:spTree>
    <p:extLst>
      <p:ext uri="{BB962C8B-B14F-4D97-AF65-F5344CB8AC3E}">
        <p14:creationId xmlns:p14="http://schemas.microsoft.com/office/powerpoint/2010/main" val="130632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A298A-96F8-4071-94C6-ACD8169D10D0}"/>
              </a:ext>
            </a:extLst>
          </p:cNvPr>
          <p:cNvSpPr txBox="1">
            <a:spLocks/>
          </p:cNvSpPr>
          <p:nvPr/>
        </p:nvSpPr>
        <p:spPr>
          <a:xfrm>
            <a:off x="357351" y="105858"/>
            <a:ext cx="11477296" cy="94210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uk-UA" sz="2400" b="1" cap="all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опитування аспірантів (ад'юнктів)</a:t>
            </a:r>
            <a:endParaRPr lang="ru-RU" sz="2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00000"/>
              </a:lnSpc>
            </a:pPr>
            <a:endParaRPr lang="ru-RU" sz="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ru-R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2024-2025 </a:t>
            </a:r>
            <a:r>
              <a:rPr lang="ru-RU" sz="2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навчальний</a:t>
            </a:r>
            <a:r>
              <a:rPr lang="ru-R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рік</a:t>
            </a:r>
            <a:r>
              <a:rPr lang="ru-R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endParaRPr lang="ru-UA" sz="2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" name="Объект 3">
            <a:extLst>
              <a:ext uri="{FF2B5EF4-FFF2-40B4-BE49-F238E27FC236}">
                <a16:creationId xmlns:a16="http://schemas.microsoft.com/office/drawing/2014/main" id="{57CE9E1B-4139-4340-AC93-EA8FDA28C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7501635"/>
              </p:ext>
            </p:extLst>
          </p:nvPr>
        </p:nvGraphicFramePr>
        <p:xfrm>
          <a:off x="357352" y="1191492"/>
          <a:ext cx="11477295" cy="5560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4D3B7D-9E18-4D6B-8AEC-EDCB350410EE}"/>
              </a:ext>
            </a:extLst>
          </p:cNvPr>
          <p:cNvSpPr txBox="1"/>
          <p:nvPr/>
        </p:nvSpPr>
        <p:spPr>
          <a:xfrm>
            <a:off x="607202" y="2152625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dirty="0">
                <a:solidFill>
                  <a:srgbClr val="FF0000"/>
                </a:solidFill>
                <a:latin typeface="Arial Black" panose="020B0A04020102020204" pitchFamily="34" charset="0"/>
              </a:rPr>
              <a:t>34,2 %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DDE95-DFCF-4A55-B7E0-A48B3C1DAE41}"/>
              </a:ext>
            </a:extLst>
          </p:cNvPr>
          <p:cNvSpPr txBox="1"/>
          <p:nvPr/>
        </p:nvSpPr>
        <p:spPr>
          <a:xfrm>
            <a:off x="6299200" y="6382810"/>
            <a:ext cx="5624945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ru-RU" sz="1800" b="1" cap="all" dirty="0" err="1">
                <a:solidFill>
                  <a:schemeClr val="bg1"/>
                </a:solidFill>
                <a:latin typeface="Arial Black" panose="020B0A04020102020204" pitchFamily="34" charset="0"/>
              </a:rPr>
              <a:t>третій</a:t>
            </a:r>
            <a:r>
              <a:rPr lang="ru-RU" sz="1800" b="1" cap="all" dirty="0">
                <a:solidFill>
                  <a:schemeClr val="bg1"/>
                </a:solidFill>
                <a:latin typeface="Arial Black" panose="020B0A04020102020204" pitchFamily="34" charset="0"/>
              </a:rPr>
              <a:t> (</a:t>
            </a:r>
            <a:r>
              <a:rPr lang="ru-RU" sz="1800" b="1" cap="all" dirty="0" err="1">
                <a:solidFill>
                  <a:schemeClr val="bg1"/>
                </a:solidFill>
                <a:latin typeface="Arial Black" panose="020B0A04020102020204" pitchFamily="34" charset="0"/>
              </a:rPr>
              <a:t>освітньо-науковий</a:t>
            </a:r>
            <a:r>
              <a:rPr lang="ru-RU" sz="1800" b="1" cap="all" dirty="0">
                <a:solidFill>
                  <a:schemeClr val="bg1"/>
                </a:solidFill>
                <a:latin typeface="Arial Black" panose="020B0A04020102020204" pitchFamily="34" charset="0"/>
              </a:rPr>
              <a:t>) </a:t>
            </a:r>
            <a:r>
              <a:rPr lang="ru-RU" sz="1800" b="1" cap="all" dirty="0" err="1">
                <a:solidFill>
                  <a:schemeClr val="bg1"/>
                </a:solidFill>
                <a:latin typeface="Arial Black" panose="020B0A04020102020204" pitchFamily="34" charset="0"/>
              </a:rPr>
              <a:t>рівень</a:t>
            </a:r>
            <a:endParaRPr lang="uk-UA" cap="al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71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2">
            <a:extLst>
              <a:ext uri="{FF2B5EF4-FFF2-40B4-BE49-F238E27FC236}">
                <a16:creationId xmlns:a16="http://schemas.microsoft.com/office/drawing/2014/main" id="{3F5E274B-3BEB-4C5F-8024-91F0EA259C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146283"/>
              </p:ext>
            </p:extLst>
          </p:nvPr>
        </p:nvGraphicFramePr>
        <p:xfrm>
          <a:off x="334963" y="976313"/>
          <a:ext cx="11522075" cy="569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Worksheet" r:id="rId3" imgW="7683390" imgH="4921385" progId="Excel.Sheet.12">
                  <p:embed/>
                </p:oleObj>
              </mc:Choice>
              <mc:Fallback>
                <p:oleObj name="Worksheet" r:id="rId3" imgW="7683390" imgH="4921385" progId="Excel.Sheet.12">
                  <p:embed/>
                  <p:pic>
                    <p:nvPicPr>
                      <p:cNvPr id="3" name="Объект 2">
                        <a:extLst>
                          <a:ext uri="{FF2B5EF4-FFF2-40B4-BE49-F238E27FC236}">
                            <a16:creationId xmlns:a16="http://schemas.microsoft.com/office/drawing/2014/main" id="{821D1F9F-862A-903D-B00E-796BAC4186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963" y="976313"/>
                        <a:ext cx="11522075" cy="5691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8022BF-3B8D-48CB-9852-A66022E44551}"/>
              </a:ext>
            </a:extLst>
          </p:cNvPr>
          <p:cNvSpPr txBox="1"/>
          <p:nvPr/>
        </p:nvSpPr>
        <p:spPr>
          <a:xfrm>
            <a:off x="472440" y="227612"/>
            <a:ext cx="1124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cap="all" dirty="0">
                <a:solidFill>
                  <a:srgbClr val="002060"/>
                </a:solidFill>
                <a:latin typeface="Arial Black" panose="020B0A04020102020204" pitchFamily="34" charset="0"/>
              </a:rPr>
              <a:t>Активність учасників опитування</a:t>
            </a:r>
          </a:p>
        </p:txBody>
      </p:sp>
    </p:spTree>
    <p:extLst>
      <p:ext uri="{BB962C8B-B14F-4D97-AF65-F5344CB8AC3E}">
        <p14:creationId xmlns:p14="http://schemas.microsoft.com/office/powerpoint/2010/main" val="2145338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2B4F4-7E33-4A0F-B8C2-D24526ABB9C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116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Структура опитування</a:t>
            </a:r>
            <a:endParaRPr lang="ru-UA" sz="28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3ED914-6EA3-41DE-87F7-6875F97FDB4B}"/>
              </a:ext>
            </a:extLst>
          </p:cNvPr>
          <p:cNvSpPr txBox="1">
            <a:spLocks/>
          </p:cNvSpPr>
          <p:nvPr/>
        </p:nvSpPr>
        <p:spPr>
          <a:xfrm>
            <a:off x="351183" y="865239"/>
            <a:ext cx="11489635" cy="5627636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57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w Cen MT" panose="020B0602020104020603" pitchFamily="34" charset="0"/>
              <a:buNone/>
            </a:pP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До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опитування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здобувачів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було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включено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наступні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блоки: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w Cen MT" panose="020B0602020104020603" pitchFamily="34" charset="0"/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Зміст освітньої програми та якість викладання</a:t>
            </a: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2. Комунікація з науковим керівником</a:t>
            </a: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3. Матеріальне забезпечення навчального процесу</a:t>
            </a: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4. Академічна мобільність та апробація результатів</a:t>
            </a: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5. Академічна доброчесність</a:t>
            </a: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6. Конфліктні ситуації та їх вирішення</a:t>
            </a:r>
          </a:p>
          <a:p>
            <a:pPr marL="357188" lvl="6" indent="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7. Залученість до змін освітньої програми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357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 3" pitchFamily="18" charset="2"/>
              <a:buNone/>
            </a:pP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Загальні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враження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від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ru-RU" sz="2000" cap="all" dirty="0" err="1">
                <a:latin typeface="Arial Black" panose="020B0A040201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000" cap="all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 3" pitchFamily="18" charset="2"/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5963" lvl="1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Наскільки Ви у цілому задоволені навчанням на даній ОПН?</a:t>
            </a:r>
          </a:p>
          <a:p>
            <a:pPr marL="715963" lvl="1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9. Наскільки виправдались Ваші очікування щодо навчання на даній ОНП?</a:t>
            </a:r>
          </a:p>
          <a:p>
            <a:pPr marL="715963" lvl="1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</a:pP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10. Чи порекомендуєте Ви навчання на цій ОНП або співпрацю у рамках ОНП своїм друзям, знайомим, колегам та ін.?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U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2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5EC52-DDBC-4306-B593-EA88015C2CC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281455"/>
            <a:ext cx="10515600" cy="3683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Блоки </a:t>
            </a:r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суджень</a:t>
            </a:r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в </a:t>
            </a:r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цілому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DEEF89E-AD0A-49E1-ADB2-5DDF7DC5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96" y="817381"/>
            <a:ext cx="116354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UA" sz="20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Середні</a:t>
            </a:r>
            <a:r>
              <a:rPr lang="ru-RU" altLang="ru-UA" sz="20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UA" sz="20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altLang="ru-UA" sz="20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 блоками </a:t>
            </a:r>
          </a:p>
        </p:txBody>
      </p:sp>
      <p:graphicFrame>
        <p:nvGraphicFramePr>
          <p:cNvPr id="4" name="Объект 7">
            <a:extLst>
              <a:ext uri="{FF2B5EF4-FFF2-40B4-BE49-F238E27FC236}">
                <a16:creationId xmlns:a16="http://schemas.microsoft.com/office/drawing/2014/main" id="{8794E177-476E-4E09-8B18-FF82A168E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6855947"/>
              </p:ext>
            </p:extLst>
          </p:nvPr>
        </p:nvGraphicFramePr>
        <p:xfrm>
          <a:off x="278296" y="1376516"/>
          <a:ext cx="11635408" cy="520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CBA34A-034B-40D0-B64D-FE01CE8F6FA1}"/>
              </a:ext>
            </a:extLst>
          </p:cNvPr>
          <p:cNvSpPr txBox="1"/>
          <p:nvPr/>
        </p:nvSpPr>
        <p:spPr>
          <a:xfrm>
            <a:off x="8469344" y="6300847"/>
            <a:ext cx="344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шкала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оцінювання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-3 до +3</a:t>
            </a:r>
            <a:endParaRPr lang="ru-UA" altLang="ru-UA" sz="1400" b="1" cap="all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031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FABF6-36F9-4B94-8C84-827F72EB688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281455"/>
            <a:ext cx="10515600" cy="3683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Блоки</a:t>
            </a:r>
            <a:r>
              <a:rPr lang="ru-RU" altLang="ru-UA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altLang="ru-UA" sz="28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суджень</a:t>
            </a:r>
            <a:r>
              <a:rPr lang="ru-RU" altLang="ru-UA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 в </a:t>
            </a:r>
            <a:r>
              <a:rPr lang="ru-RU" altLang="ru-UA" sz="28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цілому</a:t>
            </a:r>
            <a:endParaRPr lang="ru-UA" altLang="ru-UA" sz="28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4F4C8-9B96-4A44-A49E-F1E696D04F4E}"/>
              </a:ext>
            </a:extLst>
          </p:cNvPr>
          <p:cNvSpPr txBox="1"/>
          <p:nvPr/>
        </p:nvSpPr>
        <p:spPr>
          <a:xfrm>
            <a:off x="749603" y="834447"/>
            <a:ext cx="10289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Середні</a:t>
            </a:r>
            <a:r>
              <a:rPr lang="ru-RU" sz="20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sz="20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всьома</a:t>
            </a:r>
            <a:r>
              <a:rPr lang="ru-RU" sz="20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блоками по </a:t>
            </a:r>
            <a:r>
              <a:rPr lang="ru-RU" sz="20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підрозділах</a:t>
            </a:r>
            <a:endParaRPr lang="ru-UA" sz="2000" b="1" cap="all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Диаграмма 6">
            <a:extLst>
              <a:ext uri="{FF2B5EF4-FFF2-40B4-BE49-F238E27FC236}">
                <a16:creationId xmlns:a16="http://schemas.microsoft.com/office/drawing/2014/main" id="{09BCE93B-9DE8-404F-AF86-C02E66495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923397"/>
              </p:ext>
            </p:extLst>
          </p:nvPr>
        </p:nvGraphicFramePr>
        <p:xfrm>
          <a:off x="251791" y="1234557"/>
          <a:ext cx="11582400" cy="5258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453AAA-BC2D-46A2-B79F-546864480526}"/>
              </a:ext>
            </a:extLst>
          </p:cNvPr>
          <p:cNvSpPr txBox="1"/>
          <p:nvPr/>
        </p:nvSpPr>
        <p:spPr>
          <a:xfrm>
            <a:off x="8495849" y="6422656"/>
            <a:ext cx="344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шкала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оцінювання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-3 до +3</a:t>
            </a:r>
            <a:endParaRPr lang="ru-UA" altLang="ru-UA" sz="1400" b="1" cap="all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6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06B39-B1BB-4FF0-A70A-F9DB21FBC828}"/>
              </a:ext>
            </a:extLst>
          </p:cNvPr>
          <p:cNvSpPr txBox="1">
            <a:spLocks noChangeArrowheads="1"/>
          </p:cNvSpPr>
          <p:nvPr/>
        </p:nvSpPr>
        <p:spPr>
          <a:xfrm>
            <a:off x="344557" y="281455"/>
            <a:ext cx="11582400" cy="7124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1</a:t>
            </a:r>
            <a:r>
              <a:rPr lang="ru-RU" sz="2400" dirty="0">
                <a:solidFill>
                  <a:srgbClr val="002060"/>
                </a:solidFill>
                <a:latin typeface="Arial Black" panose="020B0A04020102020204" pitchFamily="34" charset="0"/>
              </a:rPr>
              <a:t>. </a:t>
            </a: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Зміст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освітньої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програми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та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якість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викладання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1F592E5B-DD04-4111-8131-4C1EDEB170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4180509"/>
              </p:ext>
            </p:extLst>
          </p:nvPr>
        </p:nvGraphicFramePr>
        <p:xfrm>
          <a:off x="344557" y="1126436"/>
          <a:ext cx="11582400" cy="545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407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31828854-4AAB-43C1-B634-952539D7CD07}"/>
              </a:ext>
            </a:extLst>
          </p:cNvPr>
          <p:cNvSpPr txBox="1">
            <a:spLocks/>
          </p:cNvSpPr>
          <p:nvPr/>
        </p:nvSpPr>
        <p:spPr>
          <a:xfrm>
            <a:off x="265042" y="244997"/>
            <a:ext cx="11489637" cy="62964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1. </a:t>
            </a:r>
          </a:p>
          <a:p>
            <a:pPr algn="ctr"/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Зміст</a:t>
            </a:r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освітньої</a:t>
            </a:r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програми</a:t>
            </a:r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та </a:t>
            </a:r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якість</a:t>
            </a:r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altLang="ru-UA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викладання</a:t>
            </a:r>
            <a:endParaRPr lang="ru-UA" sz="24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Диаграмма 6">
            <a:extLst>
              <a:ext uri="{FF2B5EF4-FFF2-40B4-BE49-F238E27FC236}">
                <a16:creationId xmlns:a16="http://schemas.microsoft.com/office/drawing/2014/main" id="{A6351B84-F320-42F5-88F9-3B65055D1B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0572955"/>
              </p:ext>
            </p:extLst>
          </p:nvPr>
        </p:nvGraphicFramePr>
        <p:xfrm>
          <a:off x="265043" y="874643"/>
          <a:ext cx="11648661" cy="5738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438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92EA6-1271-47EF-B5D2-2E1D88495DF9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281455"/>
            <a:ext cx="10515600" cy="697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2. </a:t>
            </a:r>
            <a:endParaRPr lang="en-US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Комунікація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з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науковим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керівником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854C0B34-4A03-47B8-91A6-AE75B80391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9791236"/>
              </p:ext>
            </p:extLst>
          </p:nvPr>
        </p:nvGraphicFramePr>
        <p:xfrm>
          <a:off x="318655" y="1104654"/>
          <a:ext cx="11554690" cy="520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1BF644-21CF-471F-B7D5-DADF8A600399}"/>
              </a:ext>
            </a:extLst>
          </p:cNvPr>
          <p:cNvSpPr txBox="1"/>
          <p:nvPr/>
        </p:nvSpPr>
        <p:spPr>
          <a:xfrm>
            <a:off x="5577961" y="630468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шкала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оцінювання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-3 до +3</a:t>
            </a:r>
            <a:endParaRPr lang="ru-UA" altLang="ru-UA" sz="1400" b="1" cap="all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06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7E125-A2FD-41DF-BA78-EA4B28B9410B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281455"/>
            <a:ext cx="10515600" cy="697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2. </a:t>
            </a:r>
            <a:endParaRPr lang="en-US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Комунікація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з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науковим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керівником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Диаграмма 6">
            <a:extLst>
              <a:ext uri="{FF2B5EF4-FFF2-40B4-BE49-F238E27FC236}">
                <a16:creationId xmlns:a16="http://schemas.microsoft.com/office/drawing/2014/main" id="{ECDBFDCC-680C-41C5-9CD2-C1B2EA30D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7966163"/>
              </p:ext>
            </p:extLst>
          </p:nvPr>
        </p:nvGraphicFramePr>
        <p:xfrm>
          <a:off x="274498" y="1083099"/>
          <a:ext cx="11643003" cy="5493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DFDAAE-E40F-4C07-AE1B-94F79F908C4C}"/>
              </a:ext>
            </a:extLst>
          </p:cNvPr>
          <p:cNvSpPr txBox="1"/>
          <p:nvPr/>
        </p:nvSpPr>
        <p:spPr>
          <a:xfrm>
            <a:off x="8626765" y="38338"/>
            <a:ext cx="344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шкала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оцінювання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-3 до +3</a:t>
            </a:r>
            <a:endParaRPr lang="ru-UA" altLang="ru-UA" sz="1400" b="1" cap="all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48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C3213-5632-4D57-A673-C9983F0571DA}"/>
              </a:ext>
            </a:extLst>
          </p:cNvPr>
          <p:cNvSpPr txBox="1">
            <a:spLocks noChangeArrowheads="1"/>
          </p:cNvSpPr>
          <p:nvPr/>
        </p:nvSpPr>
        <p:spPr>
          <a:xfrm>
            <a:off x="314035" y="281455"/>
            <a:ext cx="11536219" cy="9469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uk-UA" altLang="ru-UA" sz="2400" b="1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uk-UA" sz="2400" b="1">
                <a:solidFill>
                  <a:srgbClr val="002060"/>
                </a:solidFill>
                <a:latin typeface="Arial Black" panose="020B0A04020102020204" pitchFamily="34" charset="0"/>
              </a:rPr>
              <a:t>3. </a:t>
            </a:r>
          </a:p>
          <a:p>
            <a:pPr algn="ctr">
              <a:lnSpc>
                <a:spcPct val="100000"/>
              </a:lnSpc>
            </a:pPr>
            <a:r>
              <a:rPr lang="uk-UA" sz="2400" b="1">
                <a:solidFill>
                  <a:srgbClr val="002060"/>
                </a:solidFill>
                <a:latin typeface="Arial Black" panose="020B0A04020102020204" pitchFamily="34" charset="0"/>
              </a:rPr>
              <a:t>Матеріальне забезпечення навчального процесу</a:t>
            </a:r>
            <a:endParaRPr lang="uk-UA" altLang="ru-UA" sz="2400" b="1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F939BBAA-54B2-4EC6-9E49-46427B5A8E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048703"/>
              </p:ext>
            </p:extLst>
          </p:nvPr>
        </p:nvGraphicFramePr>
        <p:xfrm>
          <a:off x="1238865" y="1376516"/>
          <a:ext cx="10114935" cy="520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498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37D93BE-9C5B-4AB1-BDD6-13E0CE714B02}"/>
              </a:ext>
            </a:extLst>
          </p:cNvPr>
          <p:cNvSpPr txBox="1">
            <a:spLocks noChangeArrowheads="1"/>
          </p:cNvSpPr>
          <p:nvPr/>
        </p:nvSpPr>
        <p:spPr>
          <a:xfrm>
            <a:off x="327891" y="110364"/>
            <a:ext cx="11536219" cy="9469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uk-UA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uk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3. </a:t>
            </a:r>
          </a:p>
          <a:p>
            <a:pPr algn="ctr">
              <a:lnSpc>
                <a:spcPct val="100000"/>
              </a:lnSpc>
            </a:pPr>
            <a:r>
              <a:rPr lang="uk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Матеріальне забезпечення навчального процесу</a:t>
            </a:r>
            <a:endParaRPr lang="uk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Диаграмма 6">
            <a:extLst>
              <a:ext uri="{FF2B5EF4-FFF2-40B4-BE49-F238E27FC236}">
                <a16:creationId xmlns:a16="http://schemas.microsoft.com/office/drawing/2014/main" id="{B9EF0271-F622-4835-9A8D-60A8C756C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082170"/>
              </p:ext>
            </p:extLst>
          </p:nvPr>
        </p:nvGraphicFramePr>
        <p:xfrm>
          <a:off x="341746" y="932874"/>
          <a:ext cx="11536218" cy="5569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89BCF1-3B97-419D-A9C1-2EEE3A85C039}"/>
              </a:ext>
            </a:extLst>
          </p:cNvPr>
          <p:cNvSpPr txBox="1"/>
          <p:nvPr/>
        </p:nvSpPr>
        <p:spPr>
          <a:xfrm>
            <a:off x="8340435" y="6194623"/>
            <a:ext cx="3388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шкала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оцінювання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altLang="ru-UA" sz="1400" b="1" cap="all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altLang="ru-UA" sz="1400" b="1" cap="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-3 до +3</a:t>
            </a:r>
            <a:endParaRPr lang="ru-UA" altLang="ru-UA" sz="1400" b="1" cap="all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54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55EFF-8E0C-4A76-8315-AA9A73FF29DB}"/>
              </a:ext>
            </a:extLst>
          </p:cNvPr>
          <p:cNvSpPr txBox="1">
            <a:spLocks noChangeArrowheads="1"/>
          </p:cNvSpPr>
          <p:nvPr/>
        </p:nvSpPr>
        <p:spPr>
          <a:xfrm>
            <a:off x="332509" y="281455"/>
            <a:ext cx="11536218" cy="7622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4. </a:t>
            </a: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Академічна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мобільність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та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апробація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результатів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C151FDCC-E109-4FCD-9D66-CD67110E43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6635327"/>
              </p:ext>
            </p:extLst>
          </p:nvPr>
        </p:nvGraphicFramePr>
        <p:xfrm>
          <a:off x="332509" y="1376516"/>
          <a:ext cx="11536218" cy="520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1040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72C16-92BF-4D53-9E9F-515AF2DE9995}"/>
              </a:ext>
            </a:extLst>
          </p:cNvPr>
          <p:cNvSpPr txBox="1">
            <a:spLocks noChangeArrowheads="1"/>
          </p:cNvSpPr>
          <p:nvPr/>
        </p:nvSpPr>
        <p:spPr>
          <a:xfrm>
            <a:off x="332509" y="281455"/>
            <a:ext cx="11536218" cy="7622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4. </a:t>
            </a: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Академічна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мобільність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та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апробація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результатів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Диаграмма 6">
            <a:extLst>
              <a:ext uri="{FF2B5EF4-FFF2-40B4-BE49-F238E27FC236}">
                <a16:creationId xmlns:a16="http://schemas.microsoft.com/office/drawing/2014/main" id="{91F34086-A472-46A2-A3EE-40B8E96E85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6340927"/>
              </p:ext>
            </p:extLst>
          </p:nvPr>
        </p:nvGraphicFramePr>
        <p:xfrm>
          <a:off x="415635" y="1043709"/>
          <a:ext cx="11453091" cy="5532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56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5EA41-288D-46FC-B129-96E0047801B8}"/>
              </a:ext>
            </a:extLst>
          </p:cNvPr>
          <p:cNvSpPr txBox="1">
            <a:spLocks noChangeArrowheads="1"/>
          </p:cNvSpPr>
          <p:nvPr/>
        </p:nvSpPr>
        <p:spPr>
          <a:xfrm>
            <a:off x="323273" y="281455"/>
            <a:ext cx="11536218" cy="67912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5. </a:t>
            </a: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Академічна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доброчесність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EC67E7E9-EF68-4AD3-A0DA-5DFDC355F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312210"/>
              </p:ext>
            </p:extLst>
          </p:nvPr>
        </p:nvGraphicFramePr>
        <p:xfrm>
          <a:off x="323273" y="1163783"/>
          <a:ext cx="11628581" cy="5551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0121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C7B81-D013-483B-898C-D78D9DC39592}"/>
              </a:ext>
            </a:extLst>
          </p:cNvPr>
          <p:cNvSpPr txBox="1">
            <a:spLocks noChangeArrowheads="1"/>
          </p:cNvSpPr>
          <p:nvPr/>
        </p:nvSpPr>
        <p:spPr>
          <a:xfrm>
            <a:off x="323273" y="281455"/>
            <a:ext cx="11536218" cy="67912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UA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Блок 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5. </a:t>
            </a:r>
          </a:p>
          <a:p>
            <a:pPr algn="ctr"/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Академічна</a:t>
            </a:r>
            <a:r>
              <a:rPr lang="ru-RU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доброчесність</a:t>
            </a:r>
            <a:endParaRPr lang="ru-UA" altLang="ru-UA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Диаграмма 6">
            <a:extLst>
              <a:ext uri="{FF2B5EF4-FFF2-40B4-BE49-F238E27FC236}">
                <a16:creationId xmlns:a16="http://schemas.microsoft.com/office/drawing/2014/main" id="{37D28B3B-F98A-4D27-B9CE-5F9D913B39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832281"/>
              </p:ext>
            </p:extLst>
          </p:nvPr>
        </p:nvGraphicFramePr>
        <p:xfrm>
          <a:off x="323273" y="960582"/>
          <a:ext cx="11545454" cy="5745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8124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ADA7F0C8-1BE3-46C6-A0C3-CB46267F5FE0}"/>
              </a:ext>
            </a:extLst>
          </p:cNvPr>
          <p:cNvSpPr txBox="1">
            <a:spLocks/>
          </p:cNvSpPr>
          <p:nvPr/>
        </p:nvSpPr>
        <p:spPr>
          <a:xfrm>
            <a:off x="900128" y="244997"/>
            <a:ext cx="10515600" cy="89107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8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UA" dirty="0"/>
              <a:t>Блок </a:t>
            </a:r>
            <a:r>
              <a:rPr lang="ru-RU" dirty="0"/>
              <a:t>5. </a:t>
            </a:r>
          </a:p>
          <a:p>
            <a:pPr>
              <a:lnSpc>
                <a:spcPct val="100000"/>
              </a:lnSpc>
            </a:pPr>
            <a:r>
              <a:rPr lang="ru-RU" dirty="0" err="1"/>
              <a:t>Академічна</a:t>
            </a:r>
            <a:r>
              <a:rPr lang="ru-RU" dirty="0"/>
              <a:t> </a:t>
            </a:r>
            <a:r>
              <a:rPr lang="ru-RU" dirty="0" err="1"/>
              <a:t>доброчесність</a:t>
            </a:r>
            <a:endParaRPr lang="ru-UA" dirty="0"/>
          </a:p>
        </p:txBody>
      </p:sp>
      <p:graphicFrame>
        <p:nvGraphicFramePr>
          <p:cNvPr id="3" name="Диаграмма 6">
            <a:extLst>
              <a:ext uri="{FF2B5EF4-FFF2-40B4-BE49-F238E27FC236}">
                <a16:creationId xmlns:a16="http://schemas.microsoft.com/office/drawing/2014/main" id="{DA480439-AD3B-4DC1-AAF2-F85C7D05F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983158"/>
              </p:ext>
            </p:extLst>
          </p:nvPr>
        </p:nvGraphicFramePr>
        <p:xfrm>
          <a:off x="249382" y="1136073"/>
          <a:ext cx="11637818" cy="5356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3103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A6909-7BD8-4F16-8AE3-BF3160AA2244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281455"/>
            <a:ext cx="10515600" cy="83614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/>
              <a:t>Блок </a:t>
            </a:r>
            <a:r>
              <a:rPr lang="ru-RU" dirty="0"/>
              <a:t>6. </a:t>
            </a:r>
          </a:p>
          <a:p>
            <a:r>
              <a:rPr lang="ru-RU" dirty="0" err="1"/>
              <a:t>Конфліктні</a:t>
            </a:r>
            <a:r>
              <a:rPr lang="ru-RU" dirty="0"/>
              <a:t> </a:t>
            </a:r>
            <a:r>
              <a:rPr lang="ru-RU" dirty="0" err="1"/>
              <a:t>ситуації</a:t>
            </a:r>
            <a:r>
              <a:rPr lang="ru-RU" dirty="0"/>
              <a:t> та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вирішення</a:t>
            </a:r>
            <a:endParaRPr lang="ru-UA" altLang="ru-UA" dirty="0"/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3220D9AE-390F-49CC-9618-42D99C35BE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2468988"/>
              </p:ext>
            </p:extLst>
          </p:nvPr>
        </p:nvGraphicFramePr>
        <p:xfrm>
          <a:off x="1238865" y="1376516"/>
          <a:ext cx="10114935" cy="520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992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B7C24325-C506-4BAA-BC68-3B0780B5D68B}"/>
              </a:ext>
            </a:extLst>
          </p:cNvPr>
          <p:cNvSpPr txBox="1">
            <a:spLocks/>
          </p:cNvSpPr>
          <p:nvPr/>
        </p:nvSpPr>
        <p:spPr>
          <a:xfrm>
            <a:off x="900128" y="244997"/>
            <a:ext cx="10515600" cy="79871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/>
              <a:t>Блок </a:t>
            </a:r>
            <a:r>
              <a:rPr lang="ru-RU" dirty="0"/>
              <a:t>6. </a:t>
            </a:r>
          </a:p>
          <a:p>
            <a:r>
              <a:rPr lang="ru-RU" dirty="0" err="1"/>
              <a:t>Конфліктні</a:t>
            </a:r>
            <a:r>
              <a:rPr lang="ru-RU" dirty="0"/>
              <a:t> </a:t>
            </a:r>
            <a:r>
              <a:rPr lang="ru-RU" dirty="0" err="1"/>
              <a:t>ситуації</a:t>
            </a:r>
            <a:r>
              <a:rPr lang="ru-RU" dirty="0"/>
              <a:t> та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вирішення</a:t>
            </a:r>
            <a:endParaRPr lang="ru-UA" dirty="0"/>
          </a:p>
        </p:txBody>
      </p:sp>
      <p:graphicFrame>
        <p:nvGraphicFramePr>
          <p:cNvPr id="3" name="Диаграмма 6">
            <a:extLst>
              <a:ext uri="{FF2B5EF4-FFF2-40B4-BE49-F238E27FC236}">
                <a16:creationId xmlns:a16="http://schemas.microsoft.com/office/drawing/2014/main" id="{340F2E6C-DBB9-4A10-8CD3-1847A8F63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9035129"/>
              </p:ext>
            </p:extLst>
          </p:nvPr>
        </p:nvGraphicFramePr>
        <p:xfrm>
          <a:off x="364269" y="1173019"/>
          <a:ext cx="11384385" cy="5319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8861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B50E3-0EDA-45EC-84D5-7F593FF985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281455"/>
            <a:ext cx="10515600" cy="36830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/>
              <a:t>Блок </a:t>
            </a:r>
            <a:r>
              <a:rPr lang="ru-RU" dirty="0"/>
              <a:t>7. </a:t>
            </a:r>
            <a:r>
              <a:rPr lang="ru-RU" dirty="0" err="1"/>
              <a:t>Залученість</a:t>
            </a:r>
            <a:r>
              <a:rPr lang="ru-RU" dirty="0"/>
              <a:t> до </a:t>
            </a:r>
            <a:r>
              <a:rPr lang="ru-RU" dirty="0" err="1"/>
              <a:t>змін</a:t>
            </a:r>
            <a:r>
              <a:rPr lang="ru-RU" dirty="0"/>
              <a:t> </a:t>
            </a:r>
            <a:r>
              <a:rPr lang="ru-RU" dirty="0" err="1"/>
              <a:t>освітньої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endParaRPr lang="ru-UA" altLang="ru-UA" dirty="0"/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E89A1AD6-8B4F-4D97-887C-08E5E30E28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9404985"/>
              </p:ext>
            </p:extLst>
          </p:nvPr>
        </p:nvGraphicFramePr>
        <p:xfrm>
          <a:off x="360219" y="840510"/>
          <a:ext cx="11406908" cy="5736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9404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D7DBC6E4-D7F0-4306-8C1C-244FE9726703}"/>
              </a:ext>
            </a:extLst>
          </p:cNvPr>
          <p:cNvSpPr txBox="1">
            <a:spLocks/>
          </p:cNvSpPr>
          <p:nvPr/>
        </p:nvSpPr>
        <p:spPr>
          <a:xfrm>
            <a:off x="900128" y="244997"/>
            <a:ext cx="10515600" cy="50994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/>
              <a:t>Блок </a:t>
            </a:r>
            <a:r>
              <a:rPr lang="ru-RU" dirty="0"/>
              <a:t>7. </a:t>
            </a:r>
            <a:r>
              <a:rPr lang="ru-RU" dirty="0" err="1"/>
              <a:t>Залученість</a:t>
            </a:r>
            <a:r>
              <a:rPr lang="ru-RU" dirty="0"/>
              <a:t> до </a:t>
            </a:r>
            <a:r>
              <a:rPr lang="ru-RU" dirty="0" err="1"/>
              <a:t>змін</a:t>
            </a:r>
            <a:r>
              <a:rPr lang="ru-RU" dirty="0"/>
              <a:t> </a:t>
            </a:r>
            <a:r>
              <a:rPr lang="ru-RU" dirty="0" err="1"/>
              <a:t>освітньої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endParaRPr lang="ru-UA" dirty="0"/>
          </a:p>
        </p:txBody>
      </p:sp>
      <p:graphicFrame>
        <p:nvGraphicFramePr>
          <p:cNvPr id="3" name="Диаграмма 6">
            <a:extLst>
              <a:ext uri="{FF2B5EF4-FFF2-40B4-BE49-F238E27FC236}">
                <a16:creationId xmlns:a16="http://schemas.microsoft.com/office/drawing/2014/main" id="{D734ADD9-C8CB-4056-B251-94D26E314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644133"/>
              </p:ext>
            </p:extLst>
          </p:nvPr>
        </p:nvGraphicFramePr>
        <p:xfrm>
          <a:off x="350982" y="828328"/>
          <a:ext cx="11536218" cy="5590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663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BACD0-9ABB-4FC3-95BD-5F0A155C9B95}"/>
              </a:ext>
            </a:extLst>
          </p:cNvPr>
          <p:cNvSpPr txBox="1">
            <a:spLocks noChangeArrowheads="1"/>
          </p:cNvSpPr>
          <p:nvPr/>
        </p:nvSpPr>
        <p:spPr>
          <a:xfrm>
            <a:off x="945573" y="281455"/>
            <a:ext cx="10515600" cy="36830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 err="1"/>
              <a:t>Загальні</a:t>
            </a:r>
            <a:r>
              <a:rPr lang="ru-RU" altLang="ru-UA" dirty="0"/>
              <a:t> </a:t>
            </a:r>
            <a:r>
              <a:rPr lang="ru-RU" altLang="ru-UA" dirty="0" err="1"/>
              <a:t>враження</a:t>
            </a:r>
            <a:r>
              <a:rPr lang="ru-RU" altLang="ru-UA" dirty="0"/>
              <a:t> </a:t>
            </a:r>
            <a:r>
              <a:rPr lang="ru-RU" altLang="ru-UA" dirty="0" err="1"/>
              <a:t>від</a:t>
            </a:r>
            <a:r>
              <a:rPr lang="ru-RU" altLang="ru-UA" dirty="0"/>
              <a:t> </a:t>
            </a:r>
            <a:r>
              <a:rPr lang="ru-RU" altLang="ru-UA" dirty="0" err="1"/>
              <a:t>програми</a:t>
            </a:r>
            <a:endParaRPr lang="ru-UA" altLang="ru-UA" dirty="0"/>
          </a:p>
        </p:txBody>
      </p:sp>
      <p:graphicFrame>
        <p:nvGraphicFramePr>
          <p:cNvPr id="3" name="Объект 7">
            <a:extLst>
              <a:ext uri="{FF2B5EF4-FFF2-40B4-BE49-F238E27FC236}">
                <a16:creationId xmlns:a16="http://schemas.microsoft.com/office/drawing/2014/main" id="{596E83A5-D885-4222-8BAB-E98FC0D808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5685415"/>
              </p:ext>
            </p:extLst>
          </p:nvPr>
        </p:nvGraphicFramePr>
        <p:xfrm>
          <a:off x="304800" y="914698"/>
          <a:ext cx="11517745" cy="5532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7856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C3732743-22D3-454C-ABF2-8A10B22E7A93}"/>
              </a:ext>
            </a:extLst>
          </p:cNvPr>
          <p:cNvSpPr txBox="1">
            <a:spLocks/>
          </p:cNvSpPr>
          <p:nvPr/>
        </p:nvSpPr>
        <p:spPr>
          <a:xfrm>
            <a:off x="900128" y="244997"/>
            <a:ext cx="10515600" cy="50994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 err="1"/>
              <a:t>Загальні</a:t>
            </a:r>
            <a:r>
              <a:rPr lang="ru-RU" altLang="ru-UA" dirty="0"/>
              <a:t> </a:t>
            </a:r>
            <a:r>
              <a:rPr lang="ru-RU" altLang="ru-UA" dirty="0" err="1"/>
              <a:t>враження</a:t>
            </a:r>
            <a:r>
              <a:rPr lang="ru-RU" altLang="ru-UA" dirty="0"/>
              <a:t> </a:t>
            </a:r>
            <a:r>
              <a:rPr lang="ru-RU" altLang="ru-UA" dirty="0" err="1"/>
              <a:t>від</a:t>
            </a:r>
            <a:r>
              <a:rPr lang="ru-RU" altLang="ru-UA" dirty="0"/>
              <a:t> </a:t>
            </a:r>
            <a:r>
              <a:rPr lang="ru-RU" altLang="ru-UA" dirty="0" err="1"/>
              <a:t>програми</a:t>
            </a:r>
            <a:endParaRPr lang="ru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FA786-913A-4B37-BDA6-1792DEC226A6}"/>
              </a:ext>
            </a:extLst>
          </p:cNvPr>
          <p:cNvSpPr txBox="1"/>
          <p:nvPr/>
        </p:nvSpPr>
        <p:spPr>
          <a:xfrm>
            <a:off x="364270" y="757807"/>
            <a:ext cx="1153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2pPr lvl="1" algn="ctr">
              <a:defRPr b="1">
                <a:solidFill>
                  <a:srgbClr val="FF0000"/>
                </a:solidFill>
                <a:latin typeface="Arial Black" panose="020B0A04020102020204" pitchFamily="34" charset="0"/>
              </a:defRPr>
            </a:lvl2pPr>
          </a:lstStyle>
          <a:p>
            <a:pPr lvl="1"/>
            <a:r>
              <a:rPr lang="ru-RU" dirty="0"/>
              <a:t>8. </a:t>
            </a:r>
            <a:r>
              <a:rPr lang="ru-RU" dirty="0" err="1"/>
              <a:t>Наскільки</a:t>
            </a:r>
            <a:r>
              <a:rPr lang="ru-RU" dirty="0"/>
              <a:t> Ви у </a:t>
            </a:r>
            <a:r>
              <a:rPr lang="ru-RU" dirty="0" err="1"/>
              <a:t>цілому</a:t>
            </a:r>
            <a:r>
              <a:rPr lang="ru-RU" dirty="0"/>
              <a:t> </a:t>
            </a:r>
            <a:r>
              <a:rPr lang="ru-RU" dirty="0" err="1"/>
              <a:t>задоволені</a:t>
            </a:r>
            <a:r>
              <a:rPr lang="ru-RU" dirty="0"/>
              <a:t> </a:t>
            </a:r>
            <a:r>
              <a:rPr lang="ru-RU" dirty="0" err="1"/>
              <a:t>навчанням</a:t>
            </a:r>
            <a:r>
              <a:rPr lang="ru-RU" dirty="0"/>
              <a:t> на </a:t>
            </a:r>
            <a:r>
              <a:rPr lang="ru-RU" dirty="0" err="1"/>
              <a:t>даній</a:t>
            </a:r>
            <a:r>
              <a:rPr lang="ru-RU" dirty="0"/>
              <a:t> ОПН?</a:t>
            </a:r>
          </a:p>
        </p:txBody>
      </p:sp>
      <p:graphicFrame>
        <p:nvGraphicFramePr>
          <p:cNvPr id="5" name="Диаграмма 6">
            <a:extLst>
              <a:ext uri="{FF2B5EF4-FFF2-40B4-BE49-F238E27FC236}">
                <a16:creationId xmlns:a16="http://schemas.microsoft.com/office/drawing/2014/main" id="{83594410-CA79-4C4B-9C6A-46FAB70449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637437"/>
              </p:ext>
            </p:extLst>
          </p:nvPr>
        </p:nvGraphicFramePr>
        <p:xfrm>
          <a:off x="364270" y="1127139"/>
          <a:ext cx="11463460" cy="5563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67081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64C6CDFA-1AF2-4B06-9267-2DEF0A36591F}"/>
              </a:ext>
            </a:extLst>
          </p:cNvPr>
          <p:cNvSpPr txBox="1">
            <a:spLocks/>
          </p:cNvSpPr>
          <p:nvPr/>
        </p:nvSpPr>
        <p:spPr>
          <a:xfrm>
            <a:off x="900128" y="244997"/>
            <a:ext cx="10515600" cy="50994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 err="1"/>
              <a:t>Загальні</a:t>
            </a:r>
            <a:r>
              <a:rPr lang="ru-RU" altLang="ru-UA" dirty="0"/>
              <a:t> </a:t>
            </a:r>
            <a:r>
              <a:rPr lang="ru-RU" altLang="ru-UA" dirty="0" err="1"/>
              <a:t>враження</a:t>
            </a:r>
            <a:r>
              <a:rPr lang="ru-RU" altLang="ru-UA" dirty="0"/>
              <a:t> </a:t>
            </a:r>
            <a:r>
              <a:rPr lang="ru-RU" altLang="ru-UA" dirty="0" err="1"/>
              <a:t>від</a:t>
            </a:r>
            <a:r>
              <a:rPr lang="ru-RU" altLang="ru-UA" dirty="0"/>
              <a:t> </a:t>
            </a:r>
            <a:r>
              <a:rPr lang="ru-RU" altLang="ru-UA" dirty="0" err="1"/>
              <a:t>програми</a:t>
            </a:r>
            <a:endParaRPr lang="ru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70ABC-733B-46CA-A7A3-EAA051B8951F}"/>
              </a:ext>
            </a:extLst>
          </p:cNvPr>
          <p:cNvSpPr txBox="1"/>
          <p:nvPr/>
        </p:nvSpPr>
        <p:spPr>
          <a:xfrm>
            <a:off x="350982" y="740499"/>
            <a:ext cx="11619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9.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Наскільки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виправдались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Ваші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очікування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щодо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навчання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на </a:t>
            </a:r>
            <a:r>
              <a:rPr lang="ru-RU" sz="1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даній</a:t>
            </a:r>
            <a:r>
              <a:rPr lang="ru-RU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 ОНП?</a:t>
            </a:r>
          </a:p>
        </p:txBody>
      </p:sp>
      <p:graphicFrame>
        <p:nvGraphicFramePr>
          <p:cNvPr id="4" name="Диаграмма 6">
            <a:extLst>
              <a:ext uri="{FF2B5EF4-FFF2-40B4-BE49-F238E27FC236}">
                <a16:creationId xmlns:a16="http://schemas.microsoft.com/office/drawing/2014/main" id="{51D4487D-DFEE-4EB0-87D9-3F0EA4E988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836096"/>
              </p:ext>
            </p:extLst>
          </p:nvPr>
        </p:nvGraphicFramePr>
        <p:xfrm>
          <a:off x="350982" y="1109832"/>
          <a:ext cx="11545454" cy="5503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4535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ECBEC602-3129-43E6-9B4E-CB539EDE2F74}"/>
              </a:ext>
            </a:extLst>
          </p:cNvPr>
          <p:cNvSpPr txBox="1">
            <a:spLocks/>
          </p:cNvSpPr>
          <p:nvPr/>
        </p:nvSpPr>
        <p:spPr>
          <a:xfrm>
            <a:off x="900128" y="244997"/>
            <a:ext cx="10515600" cy="50994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2400" b="1" cap="all" spc="100" baseline="0">
                <a:solidFill>
                  <a:srgbClr val="00206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altLang="ru-UA" dirty="0" err="1"/>
              <a:t>Загальні</a:t>
            </a:r>
            <a:r>
              <a:rPr lang="ru-RU" altLang="ru-UA" dirty="0"/>
              <a:t> </a:t>
            </a:r>
            <a:r>
              <a:rPr lang="ru-RU" altLang="ru-UA" dirty="0" err="1"/>
              <a:t>враження</a:t>
            </a:r>
            <a:r>
              <a:rPr lang="ru-RU" altLang="ru-UA" dirty="0"/>
              <a:t> </a:t>
            </a:r>
            <a:r>
              <a:rPr lang="ru-RU" altLang="ru-UA" dirty="0" err="1"/>
              <a:t>від</a:t>
            </a:r>
            <a:r>
              <a:rPr lang="ru-RU" altLang="ru-UA" dirty="0"/>
              <a:t> </a:t>
            </a:r>
            <a:r>
              <a:rPr lang="ru-RU" altLang="ru-UA" dirty="0" err="1"/>
              <a:t>програми</a:t>
            </a:r>
            <a:endParaRPr lang="ru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F6DBD-2860-489A-905E-CDA9CBF9E37B}"/>
              </a:ext>
            </a:extLst>
          </p:cNvPr>
          <p:cNvSpPr txBox="1"/>
          <p:nvPr/>
        </p:nvSpPr>
        <p:spPr>
          <a:xfrm>
            <a:off x="332509" y="801109"/>
            <a:ext cx="1149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2pPr lvl="1" algn="ctr">
              <a:defRPr b="1">
                <a:solidFill>
                  <a:srgbClr val="FF0000"/>
                </a:solidFill>
                <a:latin typeface="Arial Black" panose="020B0A04020102020204" pitchFamily="34" charset="0"/>
              </a:defRPr>
            </a:lvl2pPr>
          </a:lstStyle>
          <a:p>
            <a:pPr lvl="1"/>
            <a:r>
              <a:rPr lang="ru-RU" dirty="0"/>
              <a:t>10.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порекомендуєте</a:t>
            </a:r>
            <a:r>
              <a:rPr lang="ru-RU" dirty="0"/>
              <a:t> Ви </a:t>
            </a:r>
            <a:r>
              <a:rPr lang="ru-RU" dirty="0" err="1"/>
              <a:t>навчання</a:t>
            </a:r>
            <a:r>
              <a:rPr lang="ru-RU" dirty="0"/>
              <a:t> на </a:t>
            </a:r>
            <a:r>
              <a:rPr lang="ru-RU" dirty="0" err="1"/>
              <a:t>цій</a:t>
            </a:r>
            <a:r>
              <a:rPr lang="ru-RU" dirty="0"/>
              <a:t> ОНП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співпрацю</a:t>
            </a:r>
            <a:r>
              <a:rPr lang="ru-RU" dirty="0"/>
              <a:t> у рамках ОНП </a:t>
            </a:r>
            <a:r>
              <a:rPr lang="ru-RU" dirty="0" err="1"/>
              <a:t>своїм</a:t>
            </a:r>
            <a:r>
              <a:rPr lang="ru-RU" dirty="0"/>
              <a:t> </a:t>
            </a:r>
            <a:r>
              <a:rPr lang="ru-RU" dirty="0" err="1"/>
              <a:t>друзям</a:t>
            </a:r>
            <a:r>
              <a:rPr lang="ru-RU" dirty="0"/>
              <a:t>, </a:t>
            </a:r>
            <a:r>
              <a:rPr lang="ru-RU" dirty="0" err="1"/>
              <a:t>знайомим</a:t>
            </a:r>
            <a:r>
              <a:rPr lang="ru-RU" dirty="0"/>
              <a:t>, </a:t>
            </a:r>
            <a:r>
              <a:rPr lang="ru-RU" dirty="0" err="1"/>
              <a:t>колегам</a:t>
            </a:r>
            <a:r>
              <a:rPr lang="ru-RU" dirty="0"/>
              <a:t> та </a:t>
            </a:r>
            <a:r>
              <a:rPr lang="ru-RU" dirty="0" err="1"/>
              <a:t>ін</a:t>
            </a:r>
            <a:r>
              <a:rPr lang="ru-RU" dirty="0"/>
              <a:t>.?</a:t>
            </a:r>
          </a:p>
        </p:txBody>
      </p:sp>
      <p:graphicFrame>
        <p:nvGraphicFramePr>
          <p:cNvPr id="6" name="Диаграмма 6">
            <a:extLst>
              <a:ext uri="{FF2B5EF4-FFF2-40B4-BE49-F238E27FC236}">
                <a16:creationId xmlns:a16="http://schemas.microsoft.com/office/drawing/2014/main" id="{D8164623-35CD-4084-AB46-BEB4BD14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1440867"/>
              </p:ext>
            </p:extLst>
          </p:nvPr>
        </p:nvGraphicFramePr>
        <p:xfrm>
          <a:off x="332509" y="1447440"/>
          <a:ext cx="11499273" cy="528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753660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459</TotalTime>
  <Words>421</Words>
  <Application>Microsoft Office PowerPoint</Application>
  <PresentationFormat>Широкий екран</PresentationFormat>
  <Paragraphs>81</Paragraphs>
  <Slides>25</Slides>
  <Notes>1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Calibri</vt:lpstr>
      <vt:lpstr>Tw Cen MT</vt:lpstr>
      <vt:lpstr>Tw Cen MT Condensed</vt:lpstr>
      <vt:lpstr>Wingdings 3</vt:lpstr>
      <vt:lpstr>Интеграл</vt:lpstr>
      <vt:lpstr>Worksheet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Звіт за дослідженням освітньо-наукової програми підготовки доктора філософії</dc:title>
  <dc:creator>Marina Didik</dc:creator>
  <cp:lastModifiedBy>TSV</cp:lastModifiedBy>
  <cp:revision>35</cp:revision>
  <dcterms:created xsi:type="dcterms:W3CDTF">2025-09-08T13:46:41Z</dcterms:created>
  <dcterms:modified xsi:type="dcterms:W3CDTF">2026-02-15T19:20:53Z</dcterms:modified>
</cp:coreProperties>
</file>